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8" r:id="rId10"/>
    <p:sldId id="270" r:id="rId11"/>
    <p:sldId id="262" r:id="rId12"/>
    <p:sldId id="263" r:id="rId13"/>
    <p:sldId id="264" r:id="rId14"/>
    <p:sldId id="265" r:id="rId15"/>
    <p:sldId id="266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F7F4"/>
    <a:srgbClr val="F2F0EC"/>
    <a:srgbClr val="E9E8E6"/>
    <a:srgbClr val="E2E2E2"/>
    <a:srgbClr val="F7F3EE"/>
    <a:srgbClr val="4E96C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80" d="100"/>
          <a:sy n="80" d="100"/>
        </p:scale>
        <p:origin x="642" y="19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content adapted from uploaded deck 專題架構_v2.pptx
- Decorative asset: Feather PNG Transparent Image — https://www.pngarts.com/explore/102813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content adapted from uploaded deck 專題架構_v2.pptx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content adapted from uploaded deck 專題架構_v2.pptx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content adapted from uploaded deck 專題架構_v2.pptx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content adapted from uploaded deck 專題架構_v2.pptx
- Architecture and implementation flow are proposed additions prepared for this revised presentation.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content adapted from uploaded deck 專題架構_v2.pptx
- Logic flow and synchronization approach are proposed additions prepared for this revised presentation.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content adapted from uploaded deck 專題架構_v2.pptx
- Tooling structure suggestions are proposed additions prepared for this revised presentation.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content adapted from uploaded deck 專題架構_v2.pptx
- Decorative asset: Software Development Team Abstract Concept Vector Illustration — https://pngtree.com/freepng/software-development-team-abstract-concept-vector-illustration_8459410.html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content adapted from uploaded deck 專題架構_v2.pptx
- Decorative asset: Smartphone Feature phone Finance Budget Mobile app Website Mockup — https://www.pngegg.com/en/png-dsshz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content adapted from uploaded deck 專題架構_v2.pptx
- Roadmap content is a proposed extension prepared for this revised presentation.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content adapted from uploaded deck 專題架構_v2.pptx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868680"/>
            <a:ext cx="1371600" cy="292608"/>
          </a:xfrm>
          <a:prstGeom prst="roundRect">
            <a:avLst>
              <a:gd name="adj" fmla="val 25000"/>
            </a:avLst>
          </a:prstGeom>
          <a:solidFill>
            <a:srgbClr val="DDECE4"/>
          </a:solidFill>
          <a:ln w="12700">
            <a:solidFill>
              <a:srgbClr val="DDECE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923544"/>
            <a:ext cx="13716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76C5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Android App 專題</a:t>
            </a:r>
            <a:endParaRPr lang="en-US" sz="11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Text 2"/>
          <p:cNvSpPr/>
          <p:nvPr/>
        </p:nvSpPr>
        <p:spPr>
          <a:xfrm>
            <a:off x="658368" y="1325880"/>
            <a:ext cx="43891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 err="1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CocoCoin／摳摳記</a:t>
            </a:r>
            <a:endParaRPr lang="en-US" sz="27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58368" y="1938528"/>
            <a:ext cx="493776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讓記帳像羽毛一樣輕盈，</a:t>
            </a:r>
            <a:endParaRPr lang="en-US" sz="1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buNone/>
            </a:pPr>
            <a:r>
              <a:rPr lang="en-US" sz="1800" dirty="0" err="1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把「快速記錄」與「消費洞察」放進同一個</a:t>
            </a:r>
            <a:r>
              <a:rPr lang="en-US" sz="1800" dirty="0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 App</a:t>
            </a:r>
            <a:endParaRPr lang="en-US" sz="1800" dirty="0">
              <a:solidFill>
                <a:srgbClr val="5E6F69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Noto Sans CJK TC" pitchFamily="34" charset="-12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58368" y="3035808"/>
            <a:ext cx="1115568" cy="256032"/>
          </a:xfrm>
          <a:prstGeom prst="roundRect">
            <a:avLst>
              <a:gd name="adj" fmla="val 28571"/>
            </a:avLst>
          </a:prstGeom>
          <a:solidFill>
            <a:srgbClr val="F6DCCB"/>
          </a:solidFill>
          <a:ln w="12700">
            <a:solidFill>
              <a:srgbClr val="F6DC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3044952"/>
            <a:ext cx="111556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39A7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快速記帳</a:t>
            </a:r>
            <a:endParaRPr lang="en-US" sz="1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847088" y="3035808"/>
            <a:ext cx="1115568" cy="256032"/>
          </a:xfrm>
          <a:prstGeom prst="roundRect">
            <a:avLst>
              <a:gd name="adj" fmla="val 28571"/>
            </a:avLst>
          </a:prstGeom>
          <a:solidFill>
            <a:srgbClr val="DDECE4"/>
          </a:solidFill>
          <a:ln w="12700">
            <a:solidFill>
              <a:srgbClr val="DDECE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47088" y="3044952"/>
            <a:ext cx="111556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1000" b="1" dirty="0">
                <a:solidFill>
                  <a:srgbClr val="476C5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圖表分析</a:t>
            </a:r>
            <a:endParaRPr lang="zh-TW" altLang="en-US" sz="1000" b="1" dirty="0">
              <a:solidFill>
                <a:srgbClr val="476C5D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Noto Sans CJK TC" pitchFamily="34" charset="-12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035808" y="3035808"/>
            <a:ext cx="1115568" cy="256032"/>
          </a:xfrm>
          <a:prstGeom prst="roundRect">
            <a:avLst>
              <a:gd name="adj" fmla="val 28571"/>
            </a:avLst>
          </a:prstGeom>
          <a:solidFill>
            <a:srgbClr val="EFE6D8"/>
          </a:solidFill>
          <a:ln w="12700">
            <a:solidFill>
              <a:srgbClr val="EFE6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35808" y="3044952"/>
            <a:ext cx="111556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雲端同步</a:t>
            </a:r>
            <a:endParaRPr lang="en-US" sz="1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58368" y="5394960"/>
            <a:ext cx="4937760" cy="822960"/>
          </a:xfrm>
          <a:prstGeom prst="roundRect">
            <a:avLst>
              <a:gd name="adj" fmla="val 6667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D8DDD9"/>
            </a:solidFill>
            <a:prstDash val="solid"/>
          </a:ln>
          <a:effectLst>
            <a:outerShdw blurRad="15240" dist="381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78408" y="5641848"/>
            <a:ext cx="46177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物聯網與行動裝置應用開發（幼獅）第 2 期</a:t>
            </a:r>
            <a:endParaRPr lang="en-US" sz="125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buNone/>
            </a:pPr>
            <a:r>
              <a:rPr lang="en-US" sz="1250" dirty="0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組員：田芳玲　｜　指導老師：高秀娟、朱星念、葉呈祥</a:t>
            </a:r>
            <a:endParaRPr lang="en-US" sz="125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14" name="Image 0" descr="/mnt/data/work/feathe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0" y="1516532"/>
            <a:ext cx="4434840" cy="3459175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7360920" y="5047487"/>
            <a:ext cx="3794760" cy="1257619"/>
          </a:xfrm>
          <a:prstGeom prst="roundRect">
            <a:avLst>
              <a:gd name="adj" fmla="val 6977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D8DDD9"/>
            </a:solidFill>
            <a:prstDash val="solid"/>
          </a:ln>
          <a:effectLst>
            <a:outerShdw blurRad="12700" dist="381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7571232" y="5303520"/>
            <a:ext cx="33832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1400" b="1" dirty="0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專題目標</a:t>
            </a:r>
            <a:r>
              <a:rPr lang="en-US" sz="1400" b="1" dirty="0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：降低輸入成本，提升持續記帳意願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7571232" y="5893627"/>
            <a:ext cx="33832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1150" dirty="0" err="1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優先以</a:t>
            </a:r>
            <a:r>
              <a:rPr lang="en-US" sz="1150" dirty="0" err="1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離線</a:t>
            </a:r>
            <a:r>
              <a:rPr lang="zh-TW" altLang="en-US" sz="1150" dirty="0" err="1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方式存取資料</a:t>
            </a:r>
            <a:r>
              <a:rPr lang="en-US" sz="1150" dirty="0" err="1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與可視化</a:t>
            </a:r>
            <a:r>
              <a:rPr lang="zh-TW" altLang="en-US" sz="1150" dirty="0" err="1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圖表</a:t>
            </a:r>
            <a:r>
              <a:rPr lang="en-US" sz="1150" dirty="0" err="1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，</a:t>
            </a:r>
            <a:r>
              <a:rPr lang="zh-TW" altLang="en-US" sz="1150" dirty="0" err="1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培養記帳習慣</a:t>
            </a:r>
            <a:endParaRPr lang="zh-TW" altLang="en-US" sz="1150" dirty="0" err="1">
              <a:solidFill>
                <a:srgbClr val="5E6F69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Noto Sans CJK TC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19456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D998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OVERVIEW</a:t>
            </a:r>
            <a:endParaRPr lang="en-US" sz="1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475488"/>
            <a:ext cx="6126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2400" b="1" dirty="0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大綱</a:t>
            </a:r>
            <a:endParaRPr lang="en-US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932688"/>
            <a:ext cx="10972800" cy="0"/>
          </a:xfrm>
          <a:prstGeom prst="line">
            <a:avLst/>
          </a:prstGeom>
          <a:noFill/>
          <a:ln w="12700">
            <a:solidFill>
              <a:srgbClr val="D8DD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325880"/>
            <a:ext cx="498348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8DDD9"/>
            </a:solidFill>
            <a:prstDash val="solid"/>
          </a:ln>
          <a:effectLst>
            <a:outerShdw blurRad="10160" dist="254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87552" y="1472184"/>
            <a:ext cx="621792" cy="621792"/>
          </a:xfrm>
          <a:prstGeom prst="roundRect">
            <a:avLst>
              <a:gd name="adj" fmla="val 14706"/>
            </a:avLst>
          </a:prstGeom>
          <a:solidFill>
            <a:srgbClr val="DDECE4"/>
          </a:solidFill>
          <a:ln w="12700">
            <a:solidFill>
              <a:srgbClr val="DDEC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1636776"/>
            <a:ext cx="62179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76C5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01</a:t>
            </a:r>
            <a:endParaRPr lang="en-US" sz="11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755648" y="1472184"/>
            <a:ext cx="15544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動機與目的</a:t>
            </a:r>
            <a:endParaRPr lang="en-US" sz="17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755648" y="1755648"/>
            <a:ext cx="37033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為什麼需要一個更容易持續使用的記帳工具</a:t>
            </a:r>
            <a:endParaRPr lang="en-US" sz="125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822960" y="2532888"/>
            <a:ext cx="4983480" cy="932688"/>
          </a:xfrm>
          <a:prstGeom prst="roundRect">
            <a:avLst>
              <a:gd name="adj" fmla="val 7843"/>
            </a:avLst>
          </a:prstGeom>
          <a:solidFill>
            <a:srgbClr val="FCFBF8"/>
          </a:solidFill>
          <a:ln w="12700">
            <a:solidFill>
              <a:srgbClr val="D8DDD9"/>
            </a:solidFill>
            <a:prstDash val="solid"/>
          </a:ln>
          <a:effectLst>
            <a:outerShdw blurRad="10160" dist="254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987552" y="2679192"/>
            <a:ext cx="621792" cy="621792"/>
          </a:xfrm>
          <a:prstGeom prst="roundRect">
            <a:avLst>
              <a:gd name="adj" fmla="val 14706"/>
            </a:avLst>
          </a:prstGeom>
          <a:solidFill>
            <a:srgbClr val="F6DCCB"/>
          </a:solidFill>
          <a:ln w="12700">
            <a:solidFill>
              <a:srgbClr val="F6DCC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87552" y="2843784"/>
            <a:ext cx="62179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39A7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02</a:t>
            </a:r>
            <a:endParaRPr lang="en-US" sz="11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755648" y="2679192"/>
            <a:ext cx="15544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產品定位</a:t>
            </a:r>
            <a:endParaRPr lang="en-US" sz="17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755648" y="2962656"/>
            <a:ext cx="37033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功能模組、核心價值</a:t>
            </a:r>
            <a:endParaRPr lang="en-US" sz="125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822960" y="3739896"/>
            <a:ext cx="498348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8DDD9"/>
            </a:solidFill>
            <a:prstDash val="solid"/>
          </a:ln>
          <a:effectLst>
            <a:outerShdw blurRad="10160" dist="254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87552" y="3886200"/>
            <a:ext cx="621792" cy="621792"/>
          </a:xfrm>
          <a:prstGeom prst="roundRect">
            <a:avLst>
              <a:gd name="adj" fmla="val 14706"/>
            </a:avLst>
          </a:prstGeom>
          <a:solidFill>
            <a:srgbClr val="DDECE4"/>
          </a:solidFill>
          <a:ln w="12700">
            <a:solidFill>
              <a:srgbClr val="DDECE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87552" y="4050792"/>
            <a:ext cx="62179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76C5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03</a:t>
            </a:r>
            <a:endParaRPr lang="en-US" sz="11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755648" y="3886200"/>
            <a:ext cx="15544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系統架構</a:t>
            </a:r>
            <a:endParaRPr lang="en-US" sz="17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755648" y="4169664"/>
            <a:ext cx="37033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Repository 分層、Room / Firebase、首頁試</a:t>
            </a:r>
            <a:r>
              <a:rPr lang="en-US" sz="1250" dirty="0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做ViewModel</a:t>
            </a:r>
            <a:endParaRPr lang="en-US" sz="1250" dirty="0">
              <a:solidFill>
                <a:srgbClr val="5E6F69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Noto Sans CJK TC" pitchFamily="34" charset="-12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822960" y="4946904"/>
            <a:ext cx="4983480" cy="932688"/>
          </a:xfrm>
          <a:prstGeom prst="roundRect">
            <a:avLst>
              <a:gd name="adj" fmla="val 7843"/>
            </a:avLst>
          </a:prstGeom>
          <a:solidFill>
            <a:srgbClr val="FCFBF8"/>
          </a:solidFill>
          <a:ln w="12700">
            <a:solidFill>
              <a:srgbClr val="D8DDD9"/>
            </a:solidFill>
            <a:prstDash val="solid"/>
          </a:ln>
          <a:effectLst>
            <a:outerShdw blurRad="10160" dist="254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87552" y="5093208"/>
            <a:ext cx="621792" cy="621792"/>
          </a:xfrm>
          <a:prstGeom prst="roundRect">
            <a:avLst>
              <a:gd name="adj" fmla="val 14706"/>
            </a:avLst>
          </a:prstGeom>
          <a:solidFill>
            <a:srgbClr val="F6DCCB"/>
          </a:solidFill>
          <a:ln w="12700">
            <a:solidFill>
              <a:srgbClr val="F6DCC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87552" y="5257800"/>
            <a:ext cx="62179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39A7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04</a:t>
            </a:r>
            <a:endParaRPr lang="en-US" sz="11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755648" y="5093208"/>
            <a:ext cx="15544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核心邏輯</a:t>
            </a:r>
            <a:endParaRPr lang="en-US" sz="17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755648" y="5376672"/>
            <a:ext cx="37033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資料流、同步策略與預算計算</a:t>
            </a:r>
            <a:endParaRPr lang="en-US" sz="125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355080" y="1325880"/>
            <a:ext cx="498348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8DDD9"/>
            </a:solidFill>
            <a:prstDash val="solid"/>
          </a:ln>
          <a:effectLst>
            <a:outerShdw blurRad="10160" dist="254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519672" y="1472184"/>
            <a:ext cx="621792" cy="621792"/>
          </a:xfrm>
          <a:prstGeom prst="roundRect">
            <a:avLst>
              <a:gd name="adj" fmla="val 14706"/>
            </a:avLst>
          </a:prstGeom>
          <a:solidFill>
            <a:srgbClr val="DDECE4"/>
          </a:solidFill>
          <a:ln w="12700">
            <a:solidFill>
              <a:srgbClr val="DDECE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19672" y="1636776"/>
            <a:ext cx="62179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76C5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05</a:t>
            </a:r>
            <a:endParaRPr lang="en-US" sz="11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7287768" y="1472184"/>
            <a:ext cx="15544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技術選型</a:t>
            </a:r>
            <a:endParaRPr lang="en-US" sz="17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7287768" y="1755648"/>
            <a:ext cx="37033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Android 開發工具與實作技術</a:t>
            </a:r>
            <a:endParaRPr lang="en-US" sz="125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6355080" y="2532888"/>
            <a:ext cx="4983480" cy="932688"/>
          </a:xfrm>
          <a:prstGeom prst="roundRect">
            <a:avLst>
              <a:gd name="adj" fmla="val 7843"/>
            </a:avLst>
          </a:prstGeom>
          <a:solidFill>
            <a:srgbClr val="FCFBF8"/>
          </a:solidFill>
          <a:ln w="12700">
            <a:solidFill>
              <a:srgbClr val="D8DDD9"/>
            </a:solidFill>
            <a:prstDash val="solid"/>
          </a:ln>
          <a:effectLst>
            <a:outerShdw blurRad="10160" dist="254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519672" y="2679192"/>
            <a:ext cx="621792" cy="621792"/>
          </a:xfrm>
          <a:prstGeom prst="roundRect">
            <a:avLst>
              <a:gd name="adj" fmla="val 14706"/>
            </a:avLst>
          </a:prstGeom>
          <a:solidFill>
            <a:srgbClr val="F6DCCB"/>
          </a:solidFill>
          <a:ln w="12700">
            <a:solidFill>
              <a:srgbClr val="F6DCC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19672" y="2843784"/>
            <a:ext cx="62179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39A7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06</a:t>
            </a:r>
            <a:endParaRPr lang="en-US" sz="11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7287768" y="2679192"/>
            <a:ext cx="15544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開發流程</a:t>
            </a:r>
            <a:endParaRPr lang="en-US" sz="17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7287768" y="2962656"/>
            <a:ext cx="37033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從需求、設計到</a:t>
            </a:r>
            <a:r>
              <a:rPr lang="zh-TW" altLang="en-US" sz="1250" dirty="0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實作</a:t>
            </a:r>
            <a:endParaRPr lang="zh-TW" altLang="en-US" sz="1250" dirty="0">
              <a:solidFill>
                <a:srgbClr val="5E6F69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Noto Sans CJK TC" pitchFamily="34" charset="-12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6355080" y="3739896"/>
            <a:ext cx="498348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8DDD9"/>
            </a:solidFill>
            <a:prstDash val="solid"/>
          </a:ln>
          <a:effectLst>
            <a:outerShdw blurRad="10160" dist="254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519672" y="3886200"/>
            <a:ext cx="621792" cy="621792"/>
          </a:xfrm>
          <a:prstGeom prst="roundRect">
            <a:avLst>
              <a:gd name="adj" fmla="val 14706"/>
            </a:avLst>
          </a:prstGeom>
          <a:solidFill>
            <a:srgbClr val="DDECE4"/>
          </a:solidFill>
          <a:ln w="12700">
            <a:solidFill>
              <a:srgbClr val="DDECE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19672" y="4050792"/>
            <a:ext cx="62179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76C5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07</a:t>
            </a:r>
            <a:endParaRPr lang="en-US" sz="11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7287768" y="3886200"/>
            <a:ext cx="15544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UI 規劃</a:t>
            </a:r>
            <a:endParaRPr lang="en-US" sz="17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7287768" y="4169664"/>
            <a:ext cx="37033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首頁、快速記帳、報表</a:t>
            </a:r>
            <a:r>
              <a:rPr lang="zh-TW" altLang="en-US" sz="1250" dirty="0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頁</a:t>
            </a:r>
            <a:r>
              <a:rPr lang="en-US" sz="1250" dirty="0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面</a:t>
            </a:r>
            <a:endParaRPr lang="en-US" sz="125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6355080" y="4946904"/>
            <a:ext cx="4983480" cy="932688"/>
          </a:xfrm>
          <a:prstGeom prst="roundRect">
            <a:avLst>
              <a:gd name="adj" fmla="val 7843"/>
            </a:avLst>
          </a:prstGeom>
          <a:solidFill>
            <a:srgbClr val="FCFBF8"/>
          </a:solidFill>
          <a:ln w="12700">
            <a:solidFill>
              <a:srgbClr val="D8DDD9"/>
            </a:solidFill>
            <a:prstDash val="solid"/>
          </a:ln>
          <a:effectLst>
            <a:outerShdw blurRad="10160" dist="254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519672" y="5093208"/>
            <a:ext cx="621792" cy="621792"/>
          </a:xfrm>
          <a:prstGeom prst="roundRect">
            <a:avLst>
              <a:gd name="adj" fmla="val 14706"/>
            </a:avLst>
          </a:prstGeom>
          <a:solidFill>
            <a:srgbClr val="F6DCCB"/>
          </a:solidFill>
          <a:ln w="12700">
            <a:solidFill>
              <a:srgbClr val="F6DCC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519672" y="5257800"/>
            <a:ext cx="62179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39A7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08</a:t>
            </a:r>
            <a:endParaRPr lang="en-US" sz="11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7287768" y="5093208"/>
            <a:ext cx="15544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未來方向</a:t>
            </a:r>
            <a:endParaRPr lang="en-US" sz="17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7287768" y="5376672"/>
            <a:ext cx="37033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產品化與功能擴充路線</a:t>
            </a:r>
            <a:endParaRPr lang="en-US" sz="125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19456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D998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WHY THIS APP</a:t>
            </a:r>
            <a:endParaRPr lang="en-US" sz="1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475488"/>
            <a:ext cx="6126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動機與目的</a:t>
            </a:r>
            <a:endParaRPr lang="en-US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932688"/>
            <a:ext cx="10972800" cy="0"/>
          </a:xfrm>
          <a:prstGeom prst="line">
            <a:avLst/>
          </a:prstGeom>
          <a:noFill/>
          <a:ln w="12700">
            <a:solidFill>
              <a:srgbClr val="D8DD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71016"/>
            <a:ext cx="393192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記帳不是不</a:t>
            </a:r>
            <a:r>
              <a:rPr lang="en-US" sz="1600" dirty="0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重要，</a:t>
            </a:r>
            <a:r>
              <a:rPr lang="en-US" sz="1600" dirty="0" err="1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而是太難</a:t>
            </a:r>
            <a:r>
              <a:rPr lang="zh-TW" altLang="en-US" sz="1600" dirty="0" err="1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維</a:t>
            </a:r>
            <a:r>
              <a:rPr lang="en-US" sz="1600" dirty="0" err="1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持</a:t>
            </a:r>
            <a:endParaRPr 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buNone/>
            </a:pPr>
            <a:r>
              <a:rPr lang="zh-TW" altLang="en-US" sz="1600" dirty="0" err="1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此</a:t>
            </a:r>
            <a:r>
              <a:rPr lang="en-US" altLang="zh-TW" sz="1600" dirty="0" err="1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app</a:t>
            </a:r>
            <a:r>
              <a:rPr lang="en-US" sz="1600" dirty="0" err="1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的</a:t>
            </a:r>
            <a:r>
              <a:rPr lang="zh-TW" altLang="en-US" sz="1600" dirty="0" err="1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目的</a:t>
            </a:r>
            <a:r>
              <a:rPr lang="en-US" sz="1600" dirty="0" err="1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，是</a:t>
            </a:r>
            <a:r>
              <a:rPr lang="zh-TW" altLang="en-US" sz="1600" dirty="0" err="1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要</a:t>
            </a:r>
            <a:r>
              <a:rPr lang="en-US" sz="1600" dirty="0" err="1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把每一次輸入的負擔降到最低，讓記錄行為自然</a:t>
            </a:r>
            <a:r>
              <a:rPr lang="zh-TW" altLang="en-US" sz="1600" dirty="0" err="1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而然的</a:t>
            </a:r>
            <a:r>
              <a:rPr lang="en-US" sz="1600" dirty="0" err="1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發生</a:t>
            </a:r>
            <a:endParaRPr lang="en-US" sz="1600" dirty="0" err="1">
              <a:solidFill>
                <a:srgbClr val="20302D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Noto Sans CJK TC" pitchFamily="34" charset="-12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85800" y="2480430"/>
            <a:ext cx="34747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50392" y="2663310"/>
            <a:ext cx="146304" cy="868680"/>
          </a:xfrm>
          <a:prstGeom prst="roundRect">
            <a:avLst>
              <a:gd name="adj" fmla="val 25000"/>
            </a:avLst>
          </a:prstGeom>
          <a:solidFill>
            <a:srgbClr val="6D9986"/>
          </a:solidFill>
          <a:ln w="12700">
            <a:solidFill>
              <a:srgbClr val="6D998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24712" y="2645022"/>
            <a:ext cx="287121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極簡記帳</a:t>
            </a:r>
            <a:endParaRPr lang="en-US" sz="1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124712" y="2992494"/>
            <a:ext cx="2889504" cy="57607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目標在 5 步內完成一筆收支紀錄</a:t>
            </a:r>
            <a:endParaRPr lang="en-US" sz="135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85800" y="3916038"/>
            <a:ext cx="34747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50392" y="4098918"/>
            <a:ext cx="146304" cy="868680"/>
          </a:xfrm>
          <a:prstGeom prst="roundRect">
            <a:avLst>
              <a:gd name="adj" fmla="val 25000"/>
            </a:avLst>
          </a:prstGeom>
          <a:solidFill>
            <a:srgbClr val="E39A7A"/>
          </a:solidFill>
          <a:ln w="12700">
            <a:solidFill>
              <a:srgbClr val="E39A7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24712" y="4080630"/>
            <a:ext cx="287121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即時同步</a:t>
            </a:r>
            <a:endParaRPr lang="en-US" sz="1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124712" y="4428102"/>
            <a:ext cx="2889504" cy="57607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採用本機優先 + 雲端補同步的方式，跨裝置仍可維持資料一致性</a:t>
            </a:r>
            <a:endParaRPr lang="en-US" sz="135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85800" y="5351646"/>
            <a:ext cx="34747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50392" y="5534526"/>
            <a:ext cx="146304" cy="640080"/>
          </a:xfrm>
          <a:prstGeom prst="roundRect">
            <a:avLst>
              <a:gd name="adj" fmla="val 25000"/>
            </a:avLst>
          </a:prstGeom>
          <a:solidFill>
            <a:srgbClr val="E8C56A"/>
          </a:solidFill>
          <a:ln w="12700">
            <a:solidFill>
              <a:srgbClr val="E8C56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24712" y="5516238"/>
            <a:ext cx="287121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統計分析</a:t>
            </a:r>
            <a:endParaRPr lang="en-US" sz="1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124712" y="5863710"/>
            <a:ext cx="2889504" cy="34747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將月收支、分類比例與</a:t>
            </a:r>
            <a:r>
              <a:rPr lang="zh-TW" altLang="en-US" sz="1350" dirty="0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剩餘</a:t>
            </a:r>
            <a:r>
              <a:rPr lang="en-US" sz="1350" dirty="0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預算轉</a:t>
            </a:r>
            <a:r>
              <a:rPr lang="zh-TW" altLang="en-US" sz="1350" dirty="0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換</a:t>
            </a:r>
            <a:r>
              <a:rPr lang="en-US" sz="1350" dirty="0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成易懂的視覺資訊</a:t>
            </a:r>
            <a:endParaRPr lang="en-US" sz="135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5120640" y="1638935"/>
            <a:ext cx="6492240" cy="4224655"/>
          </a:xfrm>
          <a:prstGeom prst="roundRect">
            <a:avLst>
              <a:gd name="adj" fmla="val 1616"/>
            </a:avLst>
          </a:prstGeom>
          <a:solidFill>
            <a:srgbClr val="DDECE4">
              <a:alpha val="70000"/>
            </a:srgbClr>
          </a:solidFill>
          <a:ln w="12700">
            <a:solidFill>
              <a:srgbClr val="D8DDD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0" y="1958975"/>
            <a:ext cx="14630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使用者痛點</a:t>
            </a:r>
            <a:endParaRPr lang="en-US" sz="1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513832" y="2443607"/>
            <a:ext cx="164592" cy="164592"/>
          </a:xfrm>
          <a:prstGeom prst="ellipse">
            <a:avLst/>
          </a:prstGeom>
          <a:solidFill>
            <a:srgbClr val="6D9986"/>
          </a:solidFill>
          <a:ln w="12700">
            <a:solidFill>
              <a:srgbClr val="6D998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88152" y="2388743"/>
            <a:ext cx="5074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輸入流程繁瑣，常常記</a:t>
            </a:r>
            <a:r>
              <a:rPr lang="zh-TW" altLang="en-US" sz="1600" dirty="0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沒幾次</a:t>
            </a:r>
            <a:r>
              <a:rPr lang="en-US" sz="1600" dirty="0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就放棄</a:t>
            </a:r>
            <a:endParaRPr lang="en-US" sz="1600" dirty="0">
              <a:solidFill>
                <a:srgbClr val="5E6F69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Noto Sans CJK TC" pitchFamily="34" charset="-12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5513832" y="3248279"/>
            <a:ext cx="164592" cy="164592"/>
          </a:xfrm>
          <a:prstGeom prst="ellipse">
            <a:avLst/>
          </a:prstGeom>
          <a:solidFill>
            <a:srgbClr val="E39A7A"/>
          </a:solidFill>
          <a:ln w="12700">
            <a:solidFill>
              <a:srgbClr val="E39A7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88152" y="3193415"/>
            <a:ext cx="5074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資料</a:t>
            </a:r>
            <a:r>
              <a:rPr lang="en-US" sz="1600" dirty="0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分散在紙本、Excel、不同App中</a:t>
            </a:r>
            <a:endParaRPr lang="en-US" sz="1600" dirty="0">
              <a:solidFill>
                <a:srgbClr val="5E6F69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Noto Sans CJK TC" pitchFamily="34" charset="-12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5513832" y="4052951"/>
            <a:ext cx="164592" cy="164592"/>
          </a:xfrm>
          <a:prstGeom prst="ellipse">
            <a:avLst/>
          </a:prstGeom>
          <a:solidFill>
            <a:srgbClr val="6D9986"/>
          </a:solidFill>
          <a:ln w="12700">
            <a:solidFill>
              <a:srgbClr val="6D998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788152" y="3998087"/>
            <a:ext cx="5074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記錄完缺少分析，</a:t>
            </a:r>
            <a:r>
              <a:rPr lang="en-US" sz="1600" dirty="0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降低持續使用</a:t>
            </a:r>
            <a:r>
              <a:rPr lang="zh-TW" altLang="en-US" sz="1600" dirty="0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之</a:t>
            </a:r>
            <a:r>
              <a:rPr lang="en-US" sz="1600" dirty="0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誘因</a:t>
            </a:r>
            <a:endParaRPr lang="en-US" sz="1600" dirty="0">
              <a:solidFill>
                <a:srgbClr val="5E6F69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Noto Sans CJK TC" pitchFamily="34" charset="-12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5513705" y="4802505"/>
            <a:ext cx="5486400" cy="475488"/>
          </a:xfrm>
          <a:prstGeom prst="roundRect">
            <a:avLst>
              <a:gd name="adj" fmla="val 15385"/>
            </a:avLst>
          </a:prstGeom>
          <a:solidFill>
            <a:srgbClr val="F6DCCB"/>
          </a:solidFill>
          <a:ln w="12700">
            <a:solidFill>
              <a:srgbClr val="F6DCC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87898" y="4967351"/>
            <a:ext cx="50292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39A7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設計原則：快輸入 + 可離線 + 看得懂</a:t>
            </a:r>
            <a:endParaRPr lang="en-US" sz="1400" b="1" dirty="0">
              <a:solidFill>
                <a:srgbClr val="E39A7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Noto Sans CJK TC" pitchFamily="34" charset="-12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19456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D998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PRODUCT MAP</a:t>
            </a:r>
            <a:endParaRPr lang="en-US" sz="1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475488"/>
            <a:ext cx="6126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產品定位與功能地圖</a:t>
            </a:r>
            <a:endParaRPr lang="en-US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932688"/>
            <a:ext cx="10972800" cy="0"/>
          </a:xfrm>
          <a:prstGeom prst="line">
            <a:avLst/>
          </a:prstGeom>
          <a:noFill/>
          <a:ln w="12700">
            <a:solidFill>
              <a:srgbClr val="D8DD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43584"/>
            <a:ext cx="5943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80" dirty="0" err="1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CocoCoin</a:t>
            </a:r>
            <a:r>
              <a:rPr lang="en-US" sz="1680" dirty="0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 是一個以「個人財務習慣建立」為核心的</a:t>
            </a:r>
            <a:r>
              <a:rPr lang="en-US" sz="1680" dirty="0" err="1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記帳</a:t>
            </a:r>
            <a:r>
              <a:rPr lang="en-US" sz="1680" dirty="0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App</a:t>
            </a:r>
            <a:endParaRPr lang="en-US" sz="168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buNone/>
            </a:pPr>
            <a:r>
              <a:rPr lang="en-US" sz="1680" dirty="0" err="1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功能設計聚焦在：好記、好查、看得懂、用得久</a:t>
            </a:r>
            <a:endParaRPr lang="en-US" sz="168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822960" y="2087237"/>
            <a:ext cx="4983480" cy="1051560"/>
          </a:xfrm>
          <a:prstGeom prst="roundRect">
            <a:avLst>
              <a:gd name="adj" fmla="val 6957"/>
            </a:avLst>
          </a:prstGeom>
          <a:solidFill>
            <a:srgbClr val="FCFBF8"/>
          </a:solidFill>
          <a:ln w="12700">
            <a:solidFill>
              <a:srgbClr val="FCFBF8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87552" y="2270117"/>
            <a:ext cx="146304" cy="685800"/>
          </a:xfrm>
          <a:prstGeom prst="roundRect">
            <a:avLst>
              <a:gd name="adj" fmla="val 25000"/>
            </a:avLst>
          </a:prstGeom>
          <a:solidFill>
            <a:srgbClr val="6D9986"/>
          </a:solidFill>
          <a:ln w="12700">
            <a:solidFill>
              <a:srgbClr val="6D998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61872" y="2251829"/>
            <a:ext cx="437997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帳款紀錄</a:t>
            </a:r>
            <a:endParaRPr lang="en-US" sz="1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261872" y="2599301"/>
            <a:ext cx="4398264" cy="3931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>
              <a:buNone/>
            </a:pPr>
            <a:r>
              <a:rPr lang="zh-TW" altLang="en-US" sz="1350" dirty="0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可選擇</a:t>
            </a:r>
            <a:r>
              <a:rPr lang="en-US" sz="1350" dirty="0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收入/支出、</a:t>
            </a:r>
            <a:r>
              <a:rPr lang="zh-TW" altLang="en-US" sz="1350" dirty="0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日期</a:t>
            </a:r>
            <a:r>
              <a:rPr lang="en-US" sz="1350" dirty="0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、類別、備註與付款錢包</a:t>
            </a:r>
            <a:endParaRPr lang="en-US" sz="135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355080" y="2087237"/>
            <a:ext cx="4983480" cy="1051560"/>
          </a:xfrm>
          <a:prstGeom prst="roundRect">
            <a:avLst>
              <a:gd name="adj" fmla="val 6957"/>
            </a:avLst>
          </a:prstGeom>
          <a:solidFill>
            <a:srgbClr val="FCFBF8"/>
          </a:solidFill>
          <a:ln w="12700">
            <a:solidFill>
              <a:srgbClr val="FCFBF8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19672" y="2270117"/>
            <a:ext cx="146304" cy="685800"/>
          </a:xfrm>
          <a:prstGeom prst="roundRect">
            <a:avLst>
              <a:gd name="adj" fmla="val 25000"/>
            </a:avLst>
          </a:prstGeom>
          <a:solidFill>
            <a:srgbClr val="E39A7A"/>
          </a:solidFill>
          <a:ln w="12700">
            <a:solidFill>
              <a:srgbClr val="E39A7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93992" y="2251829"/>
            <a:ext cx="437997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預算管理</a:t>
            </a:r>
            <a:endParaRPr lang="zh-TW" altLang="en-US" sz="1800" b="1" dirty="0">
              <a:solidFill>
                <a:srgbClr val="20302D"/>
              </a:solidFill>
              <a:latin typeface="微軟正黑體" panose="020B0604030504040204" pitchFamily="34" charset="-120"/>
              <a:ea typeface="新細明體" charset="0"/>
              <a:cs typeface="Noto Sans CJK TC" pitchFamily="34" charset="-12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793992" y="2599301"/>
            <a:ext cx="4398264" cy="3931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按月設定預算並監看剩餘額度與超支狀況</a:t>
            </a:r>
            <a:endParaRPr lang="en-US" sz="135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22960" y="3458837"/>
            <a:ext cx="49834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87552" y="3641717"/>
            <a:ext cx="146304" cy="685800"/>
          </a:xfrm>
          <a:prstGeom prst="roundRect">
            <a:avLst>
              <a:gd name="adj" fmla="val 25000"/>
            </a:avLst>
          </a:prstGeom>
          <a:solidFill>
            <a:srgbClr val="6D9986"/>
          </a:solidFill>
          <a:ln w="12700">
            <a:solidFill>
              <a:srgbClr val="6D998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61872" y="3623429"/>
            <a:ext cx="437997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多錢包管理</a:t>
            </a:r>
            <a:endParaRPr lang="en-US" sz="1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261872" y="3970901"/>
            <a:ext cx="4398264" cy="3931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區分現金、</a:t>
            </a:r>
            <a:r>
              <a:rPr lang="zh-TW" altLang="en-US" sz="1350" dirty="0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銀行帳戶</a:t>
            </a:r>
            <a:r>
              <a:rPr lang="en-US" sz="1350" dirty="0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、</a:t>
            </a:r>
            <a:r>
              <a:rPr lang="zh-TW" altLang="en-US" sz="1350" dirty="0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禮券</a:t>
            </a:r>
            <a:r>
              <a:rPr lang="en-US" sz="1350" dirty="0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  <a:sym typeface="+mn-ea"/>
              </a:rPr>
              <a:t>、</a:t>
            </a:r>
            <a:r>
              <a:rPr lang="zh-TW" altLang="en-US" sz="1350" dirty="0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  <a:sym typeface="+mn-ea"/>
              </a:rPr>
              <a:t>悠遊卡</a:t>
            </a:r>
            <a:r>
              <a:rPr lang="en-US" sz="1350" dirty="0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等</a:t>
            </a:r>
            <a:r>
              <a:rPr lang="zh-TW" altLang="en-US" sz="1350" dirty="0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帳款</a:t>
            </a:r>
            <a:r>
              <a:rPr lang="en-US" sz="1350" dirty="0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來源</a:t>
            </a:r>
            <a:endParaRPr lang="en-US" sz="135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355080" y="3458837"/>
            <a:ext cx="49834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519672" y="3641717"/>
            <a:ext cx="146304" cy="685800"/>
          </a:xfrm>
          <a:prstGeom prst="roundRect">
            <a:avLst>
              <a:gd name="adj" fmla="val 25000"/>
            </a:avLst>
          </a:prstGeom>
          <a:solidFill>
            <a:srgbClr val="E39A7A"/>
          </a:solidFill>
          <a:ln w="12700">
            <a:solidFill>
              <a:srgbClr val="E39A7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93992" y="3623429"/>
            <a:ext cx="437997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快速查詢</a:t>
            </a:r>
            <a:endParaRPr lang="en-US" sz="1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793992" y="3970901"/>
            <a:ext cx="4398264" cy="3931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依</a:t>
            </a:r>
            <a:r>
              <a:rPr lang="zh-TW" altLang="en-US" sz="1350" dirty="0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月份或特殊區間</a:t>
            </a:r>
            <a:r>
              <a:rPr lang="en-US" sz="1350" dirty="0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搜尋</a:t>
            </a:r>
            <a:r>
              <a:rPr lang="zh-TW" altLang="en-US" sz="1350" dirty="0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收支</a:t>
            </a:r>
            <a:r>
              <a:rPr lang="en-US" sz="1350" dirty="0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紀錄</a:t>
            </a:r>
            <a:endParaRPr lang="en-US" sz="135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822960" y="4849487"/>
            <a:ext cx="4983480" cy="1051560"/>
          </a:xfrm>
          <a:prstGeom prst="roundRect">
            <a:avLst>
              <a:gd name="adj" fmla="val 6957"/>
            </a:avLst>
          </a:prstGeom>
          <a:solidFill>
            <a:srgbClr val="FCFBF8"/>
          </a:solidFill>
          <a:ln w="12700">
            <a:solidFill>
              <a:srgbClr val="FCFBF8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87552" y="5013317"/>
            <a:ext cx="146304" cy="685800"/>
          </a:xfrm>
          <a:prstGeom prst="roundRect">
            <a:avLst>
              <a:gd name="adj" fmla="val 25000"/>
            </a:avLst>
          </a:prstGeom>
          <a:solidFill>
            <a:srgbClr val="6D9986"/>
          </a:solidFill>
          <a:ln w="12700">
            <a:solidFill>
              <a:srgbClr val="6D998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61872" y="4995029"/>
            <a:ext cx="437997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數據</a:t>
            </a:r>
            <a:r>
              <a:rPr lang="zh-TW" altLang="en-US" sz="1800" b="1" dirty="0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可視</a:t>
            </a:r>
            <a:r>
              <a:rPr lang="en-US" sz="1800" b="1" dirty="0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化</a:t>
            </a:r>
            <a:endParaRPr lang="en-US" sz="1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1261872" y="5342501"/>
            <a:ext cx="4398264" cy="3931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以月報表、分類占比與趨勢圖整理資訊</a:t>
            </a:r>
            <a:endParaRPr lang="en-US" sz="135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355080" y="4830437"/>
            <a:ext cx="4983480" cy="1051560"/>
          </a:xfrm>
          <a:prstGeom prst="roundRect">
            <a:avLst>
              <a:gd name="adj" fmla="val 6957"/>
            </a:avLst>
          </a:prstGeom>
          <a:solidFill>
            <a:srgbClr val="FCFBF8"/>
          </a:solidFill>
          <a:ln w="12700">
            <a:solidFill>
              <a:srgbClr val="FCFBF8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519672" y="5013317"/>
            <a:ext cx="146304" cy="685800"/>
          </a:xfrm>
          <a:prstGeom prst="roundRect">
            <a:avLst>
              <a:gd name="adj" fmla="val 25000"/>
            </a:avLst>
          </a:prstGeom>
          <a:solidFill>
            <a:srgbClr val="E39A7A"/>
          </a:solidFill>
          <a:ln w="12700">
            <a:solidFill>
              <a:srgbClr val="E39A7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93992" y="4995029"/>
            <a:ext cx="437997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雲端同步</a:t>
            </a:r>
            <a:endParaRPr lang="en-US" sz="1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793992" y="5342501"/>
            <a:ext cx="4398264" cy="3931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登入後同步資料，支援跨裝置接續使用</a:t>
            </a:r>
            <a:endParaRPr lang="en-US" sz="135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2633472" y="6220325"/>
            <a:ext cx="7132320" cy="347472"/>
          </a:xfrm>
          <a:prstGeom prst="roundRect">
            <a:avLst>
              <a:gd name="adj" fmla="val 26316"/>
            </a:avLst>
          </a:prstGeom>
          <a:solidFill>
            <a:srgbClr val="DDECE4"/>
          </a:solidFill>
          <a:ln w="12700">
            <a:solidFill>
              <a:srgbClr val="DDECE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52344" y="6311765"/>
            <a:ext cx="6876288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40" b="1" dirty="0" err="1">
                <a:solidFill>
                  <a:srgbClr val="476C5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核心價值：降低記帳阻力，讓使用者願意每天留下可分析的財務資料</a:t>
            </a:r>
            <a:endParaRPr lang="en-US" sz="124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19456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D998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ARCHITECTURE</a:t>
            </a:r>
            <a:endParaRPr lang="en-US" sz="1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475488"/>
            <a:ext cx="6126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系統架構</a:t>
            </a:r>
            <a:endParaRPr lang="en-US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932688"/>
            <a:ext cx="10972800" cy="0"/>
          </a:xfrm>
          <a:prstGeom prst="line">
            <a:avLst/>
          </a:prstGeom>
          <a:noFill/>
          <a:ln w="12700">
            <a:solidFill>
              <a:srgbClr val="D8DD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98448"/>
            <a:ext cx="68580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 err="1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為了讓功能可維護</a:t>
            </a:r>
            <a:r>
              <a:rPr lang="en-US" sz="1650" dirty="0" err="1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與擴充，也方便後續優化，目前採用 Repository 分層架構，並在首頁開始導入 ViewModel</a:t>
            </a:r>
            <a:endParaRPr lang="en-US" sz="1650" dirty="0" err="1">
              <a:solidFill>
                <a:srgbClr val="5E6F69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Noto Sans CJK TC" pitchFamily="34" charset="-12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997200" y="2496820"/>
            <a:ext cx="2540" cy="705485"/>
          </a:xfrm>
          <a:prstGeom prst="line">
            <a:avLst/>
          </a:prstGeom>
          <a:noFill/>
          <a:ln w="25400">
            <a:solidFill>
              <a:srgbClr val="6D9986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997200" y="3494405"/>
            <a:ext cx="2540" cy="916940"/>
          </a:xfrm>
          <a:prstGeom prst="line">
            <a:avLst/>
          </a:prstGeom>
          <a:noFill/>
          <a:ln w="25400">
            <a:solidFill>
              <a:srgbClr val="6D9986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997200" y="4904740"/>
            <a:ext cx="2540" cy="735330"/>
          </a:xfrm>
          <a:prstGeom prst="line">
            <a:avLst/>
          </a:prstGeom>
          <a:noFill/>
          <a:ln w="25400">
            <a:solidFill>
              <a:srgbClr val="6D9986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177205" y="4200604"/>
            <a:ext cx="1216152" cy="0"/>
          </a:xfrm>
          <a:prstGeom prst="line">
            <a:avLst/>
          </a:prstGeom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sp>
      <p:sp>
        <p:nvSpPr>
          <p:cNvPr id="11" name="Shape 9"/>
          <p:cNvSpPr/>
          <p:nvPr/>
        </p:nvSpPr>
        <p:spPr>
          <a:xfrm>
            <a:off x="896112" y="1973722"/>
            <a:ext cx="42062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8DDD9"/>
            </a:solidFill>
            <a:prstDash val="solid"/>
          </a:ln>
          <a:effectLst>
            <a:outerShdw blurRad="10160" dist="254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078992" y="2129170"/>
            <a:ext cx="164592" cy="557784"/>
          </a:xfrm>
          <a:prstGeom prst="roundRect">
            <a:avLst>
              <a:gd name="adj" fmla="val 16667"/>
            </a:avLst>
          </a:prstGeom>
          <a:solidFill>
            <a:srgbClr val="6D9986"/>
          </a:solidFill>
          <a:ln w="12700">
            <a:solidFill>
              <a:srgbClr val="6D998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99032" y="2133624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1700" b="1" dirty="0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Presentation Layer</a:t>
            </a:r>
            <a:endParaRPr lang="zh-TW" altLang="en-US" sz="1700" b="1" dirty="0">
              <a:solidFill>
                <a:srgbClr val="20302D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Noto Sans CJK TC" pitchFamily="34" charset="-12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399032" y="2405785"/>
            <a:ext cx="342900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TW" altLang="en-US" sz="1250" dirty="0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主頁</a:t>
            </a:r>
            <a:r>
              <a:rPr lang="en-US" altLang="zh-TW" sz="1250" dirty="0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 </a:t>
            </a:r>
            <a:r>
              <a:rPr lang="en-US" sz="1250" dirty="0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/ </a:t>
            </a:r>
            <a:r>
              <a:rPr lang="zh-TW" altLang="en-US" sz="1250" dirty="0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分析</a:t>
            </a:r>
            <a:r>
              <a:rPr lang="en-US" sz="1250" dirty="0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 / </a:t>
            </a:r>
            <a:r>
              <a:rPr lang="zh-TW" altLang="en-US" sz="1250" dirty="0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記帳</a:t>
            </a:r>
            <a:r>
              <a:rPr lang="en-US" sz="1250" dirty="0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 / </a:t>
            </a:r>
            <a:r>
              <a:rPr lang="zh-TW" altLang="en-US" sz="1250" dirty="0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預算</a:t>
            </a:r>
            <a:r>
              <a:rPr lang="en-US" sz="1250" dirty="0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 / </a:t>
            </a:r>
            <a:r>
              <a:rPr lang="zh-TW" altLang="en-US" sz="1250" dirty="0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設定</a:t>
            </a:r>
            <a:endParaRPr lang="zh-TW" altLang="en-US" sz="1250" dirty="0">
              <a:solidFill>
                <a:srgbClr val="5E6F69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Noto Sans CJK TC" pitchFamily="34" charset="-12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895985" y="3215640"/>
            <a:ext cx="4206240" cy="862965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8DDD9"/>
            </a:solidFill>
            <a:prstDash val="solid"/>
          </a:ln>
          <a:effectLst>
            <a:outerShdw blurRad="10160" dist="254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078992" y="3371357"/>
            <a:ext cx="164592" cy="557784"/>
          </a:xfrm>
          <a:prstGeom prst="roundRect">
            <a:avLst>
              <a:gd name="adj" fmla="val 16667"/>
            </a:avLst>
          </a:prstGeom>
          <a:solidFill>
            <a:srgbClr val="E39A7A"/>
          </a:solidFill>
          <a:ln w="12700">
            <a:solidFill>
              <a:srgbClr val="E39A7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98905" y="3366770"/>
            <a:ext cx="3427095" cy="2197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ViewModel</a:t>
            </a:r>
            <a:endParaRPr lang="en-US" sz="17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399032" y="3644168"/>
            <a:ext cx="342900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處理畫面狀態、輸入驗證、預算計算、交易查詢</a:t>
            </a:r>
            <a:endParaRPr lang="en-US" sz="125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895985" y="4415155"/>
            <a:ext cx="4206240" cy="878205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8DDD9"/>
            </a:solidFill>
            <a:prstDash val="solid"/>
          </a:ln>
          <a:effectLst>
            <a:outerShdw blurRad="10160" dist="254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078992" y="4570618"/>
            <a:ext cx="164592" cy="557784"/>
          </a:xfrm>
          <a:prstGeom prst="roundRect">
            <a:avLst>
              <a:gd name="adj" fmla="val 16667"/>
            </a:avLst>
          </a:prstGeom>
          <a:solidFill>
            <a:srgbClr val="E8C56A"/>
          </a:solidFill>
          <a:ln w="12700">
            <a:solidFill>
              <a:srgbClr val="E8C56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99032" y="4575998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Repository Layer</a:t>
            </a:r>
            <a:endParaRPr lang="zh-TW" altLang="en-US" sz="1700" b="1" dirty="0">
              <a:solidFill>
                <a:srgbClr val="20302D"/>
              </a:solidFill>
              <a:latin typeface="微軟正黑體" panose="020B0604030504040204" pitchFamily="34" charset="-120"/>
              <a:ea typeface="新細明體" charset="0"/>
              <a:cs typeface="Noto Sans CJK TC" pitchFamily="34" charset="-12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398905" y="4840605"/>
            <a:ext cx="3429000" cy="3835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統一資料來源，封裝本機資料存取、同步、備份與還原邏輯</a:t>
            </a:r>
            <a:endParaRPr lang="en-US" sz="1250" dirty="0">
              <a:solidFill>
                <a:srgbClr val="5E6F69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Noto Sans CJK TC" pitchFamily="34" charset="-12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896112" y="5631322"/>
            <a:ext cx="42062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8DDD9"/>
            </a:solidFill>
            <a:prstDash val="solid"/>
          </a:ln>
          <a:effectLst>
            <a:outerShdw blurRad="10160" dist="254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1078992" y="5786770"/>
            <a:ext cx="164592" cy="557784"/>
          </a:xfrm>
          <a:prstGeom prst="roundRect">
            <a:avLst>
              <a:gd name="adj" fmla="val 16667"/>
            </a:avLst>
          </a:prstGeom>
          <a:solidFill>
            <a:srgbClr val="6D9986"/>
          </a:solidFill>
          <a:ln w="12700">
            <a:solidFill>
              <a:srgbClr val="6D998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99032" y="5786129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Data Source</a:t>
            </a:r>
            <a:endParaRPr lang="en-US" sz="17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1399032" y="6096390"/>
            <a:ext cx="342900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Room / SQLite（本機）＋Firebase（雲端）</a:t>
            </a:r>
            <a:endParaRPr lang="en-US" sz="125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6428105" y="2231390"/>
            <a:ext cx="5349240" cy="3314700"/>
          </a:xfrm>
          <a:prstGeom prst="roundRect">
            <a:avLst>
              <a:gd name="adj" fmla="val 1798"/>
            </a:avLst>
          </a:prstGeom>
          <a:solidFill>
            <a:srgbClr val="FFF1E9"/>
          </a:solidFill>
          <a:ln w="12700">
            <a:solidFill>
              <a:srgbClr val="F6DCC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48272" y="2636798"/>
            <a:ext cx="13716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設計重點</a:t>
            </a:r>
            <a:endParaRPr lang="en-US" sz="1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6748399" y="3323487"/>
            <a:ext cx="128016" cy="128016"/>
          </a:xfrm>
          <a:prstGeom prst="ellipse">
            <a:avLst/>
          </a:prstGeom>
          <a:solidFill>
            <a:srgbClr val="6D9986"/>
          </a:solidFill>
          <a:ln w="12700">
            <a:solidFill>
              <a:srgbClr val="6D998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004431" y="3259479"/>
            <a:ext cx="43434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離線優先：交易先寫入本機，再進行背景同步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6748399" y="3981855"/>
            <a:ext cx="128016" cy="128016"/>
          </a:xfrm>
          <a:prstGeom prst="ellipse">
            <a:avLst/>
          </a:prstGeom>
          <a:solidFill>
            <a:srgbClr val="E39A7A"/>
          </a:solidFill>
          <a:ln w="12700">
            <a:solidFill>
              <a:srgbClr val="E39A7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748399" y="4640223"/>
            <a:ext cx="128016" cy="128016"/>
          </a:xfrm>
          <a:prstGeom prst="ellipse">
            <a:avLst/>
          </a:prstGeom>
          <a:solidFill>
            <a:srgbClr val="6D9986"/>
          </a:solidFill>
          <a:ln w="12700">
            <a:solidFill>
              <a:srgbClr val="6D998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004431" y="3922165"/>
            <a:ext cx="43434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模組化：預算、交易、錢包可獨立維護與測試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3" name="Text 34"/>
          <p:cNvSpPr/>
          <p:nvPr/>
        </p:nvSpPr>
        <p:spPr>
          <a:xfrm>
            <a:off x="7004431" y="4656733"/>
            <a:ext cx="43434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單一資料入口：畫面層</a:t>
            </a:r>
            <a:r>
              <a:rPr lang="en-US" sz="1400" dirty="0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以 Repository 存取資料，首頁進一步以 ViewModel 管理 UI 狀態</a:t>
            </a:r>
            <a:endParaRPr lang="en-US" sz="1400" dirty="0">
              <a:solidFill>
                <a:srgbClr val="5E6F69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Noto Sans CJK TC" pitchFamily="34" charset="-12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40080" y="475488"/>
            <a:ext cx="6126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核心邏輯與資料流程</a:t>
            </a:r>
            <a:endParaRPr lang="en-US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932688"/>
            <a:ext cx="10972800" cy="0"/>
          </a:xfrm>
          <a:prstGeom prst="line">
            <a:avLst/>
          </a:prstGeom>
          <a:noFill/>
          <a:ln w="12700">
            <a:solidFill>
              <a:srgbClr val="D8DD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89304"/>
            <a:ext cx="73152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 err="1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以「一筆交易」為例，資料會依序完成驗證、寫入、計算與同步，讓畫面回饋速度與資料一致性兼顧</a:t>
            </a:r>
            <a:endParaRPr lang="en-US" sz="165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340864" y="3296412"/>
            <a:ext cx="530352" cy="0"/>
          </a:xfrm>
          <a:prstGeom prst="line">
            <a:avLst/>
          </a:prstGeom>
          <a:noFill/>
          <a:ln w="25400">
            <a:solidFill>
              <a:srgbClr val="6D9986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4553712" y="3296412"/>
            <a:ext cx="530352" cy="0"/>
          </a:xfrm>
          <a:prstGeom prst="line">
            <a:avLst/>
          </a:prstGeom>
          <a:noFill/>
          <a:ln w="25400">
            <a:solidFill>
              <a:srgbClr val="6D9986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6766560" y="3296412"/>
            <a:ext cx="530352" cy="0"/>
          </a:xfrm>
          <a:prstGeom prst="line">
            <a:avLst/>
          </a:prstGeom>
          <a:noFill/>
          <a:ln w="25400">
            <a:solidFill>
              <a:srgbClr val="6D9986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8979408" y="3296412"/>
            <a:ext cx="530352" cy="0"/>
          </a:xfrm>
          <a:prstGeom prst="line">
            <a:avLst/>
          </a:prstGeom>
          <a:noFill/>
          <a:ln w="25400">
            <a:solidFill>
              <a:srgbClr val="6D9986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96112" y="2153412"/>
            <a:ext cx="1783080" cy="22402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8DDD9"/>
            </a:solidFill>
            <a:prstDash val="solid"/>
          </a:ln>
          <a:effectLst>
            <a:outerShdw blurRad="10160" dist="254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060704" y="2308860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DDECE4"/>
          </a:solidFill>
          <a:ln w="12700">
            <a:solidFill>
              <a:srgbClr val="DDECE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60704" y="2418588"/>
            <a:ext cx="566928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476C5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01</a:t>
            </a:r>
            <a:endParaRPr lang="en-US" sz="105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060704" y="2857500"/>
            <a:ext cx="1426464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輸入交易</a:t>
            </a:r>
            <a:endParaRPr lang="en-US" sz="165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078992" y="3369564"/>
            <a:ext cx="1389888" cy="64008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70" dirty="0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填寫金額、類別、日期、錢包與備註</a:t>
            </a:r>
            <a:endParaRPr lang="en-US" sz="117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108960" y="2153412"/>
            <a:ext cx="1783080" cy="2240280"/>
          </a:xfrm>
          <a:prstGeom prst="roundRect">
            <a:avLst>
              <a:gd name="adj" fmla="val 4103"/>
            </a:avLst>
          </a:prstGeom>
          <a:solidFill>
            <a:srgbClr val="FCFBF8"/>
          </a:solidFill>
          <a:ln w="12700">
            <a:solidFill>
              <a:srgbClr val="D8DDD9"/>
            </a:solidFill>
            <a:prstDash val="solid"/>
          </a:ln>
          <a:effectLst>
            <a:outerShdw blurRad="10160" dist="254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73552" y="2308860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6DCCB"/>
          </a:solidFill>
          <a:ln w="12700">
            <a:solidFill>
              <a:srgbClr val="F6DCC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73552" y="2418588"/>
            <a:ext cx="566928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39A7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02</a:t>
            </a:r>
            <a:endParaRPr lang="en-US" sz="105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3273552" y="2857500"/>
            <a:ext cx="1426464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表單驗證</a:t>
            </a:r>
            <a:endParaRPr lang="en-US" sz="165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3291840" y="3369564"/>
            <a:ext cx="1389888" cy="64008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70" dirty="0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檢查必填欄位、格式與數值是否合理</a:t>
            </a:r>
            <a:endParaRPr lang="en-US" sz="117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321808" y="2153412"/>
            <a:ext cx="1783080" cy="22402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8DDD9"/>
            </a:solidFill>
            <a:prstDash val="solid"/>
          </a:ln>
          <a:effectLst>
            <a:outerShdw blurRad="10160" dist="254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0" y="2308860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DDECE4"/>
          </a:solidFill>
          <a:ln w="12700">
            <a:solidFill>
              <a:srgbClr val="DDECE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0" y="2418588"/>
            <a:ext cx="566928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476C5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03</a:t>
            </a:r>
            <a:endParaRPr lang="en-US" sz="105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5486400" y="2857500"/>
            <a:ext cx="1426464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本機寫入</a:t>
            </a:r>
            <a:endParaRPr lang="en-US" sz="165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5504688" y="3369564"/>
            <a:ext cx="1389888" cy="64008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70" dirty="0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先寫入 Room / SQLite，立即更新畫面</a:t>
            </a:r>
            <a:endParaRPr lang="en-US" sz="117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7534656" y="2153412"/>
            <a:ext cx="1783080" cy="2240280"/>
          </a:xfrm>
          <a:prstGeom prst="roundRect">
            <a:avLst>
              <a:gd name="adj" fmla="val 4103"/>
            </a:avLst>
          </a:prstGeom>
          <a:solidFill>
            <a:srgbClr val="FCFBF8"/>
          </a:solidFill>
          <a:ln w="12700">
            <a:solidFill>
              <a:srgbClr val="D8DDD9"/>
            </a:solidFill>
            <a:prstDash val="solid"/>
          </a:ln>
          <a:effectLst>
            <a:outerShdw blurRad="10160" dist="254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699248" y="2308860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6DCCB"/>
          </a:solidFill>
          <a:ln w="12700">
            <a:solidFill>
              <a:srgbClr val="F6DCC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99248" y="2418588"/>
            <a:ext cx="566928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39A7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04</a:t>
            </a:r>
            <a:endParaRPr lang="en-US" sz="105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7699248" y="2857500"/>
            <a:ext cx="1426464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預算計算</a:t>
            </a:r>
            <a:endParaRPr lang="en-US" sz="165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7717536" y="3369564"/>
            <a:ext cx="1389888" cy="64008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70" dirty="0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重新計算</a:t>
            </a:r>
            <a:r>
              <a:rPr lang="zh-TW" altLang="en-US" sz="1170" dirty="0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各錢包</a:t>
            </a:r>
            <a:r>
              <a:rPr lang="en-US" sz="1170" dirty="0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總額、剩餘預算與</a:t>
            </a:r>
            <a:r>
              <a:rPr lang="zh-TW" altLang="en-US" sz="1170" dirty="0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超支</a:t>
            </a:r>
            <a:r>
              <a:rPr lang="en-US" sz="1170" dirty="0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狀態</a:t>
            </a:r>
            <a:endParaRPr lang="en-US" sz="117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9747504" y="2153412"/>
            <a:ext cx="1783080" cy="22402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8DDD9"/>
            </a:solidFill>
            <a:prstDash val="solid"/>
          </a:ln>
          <a:effectLst>
            <a:outerShdw blurRad="10160" dist="254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9912096" y="2308860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DDECE4"/>
          </a:solidFill>
          <a:ln w="12700">
            <a:solidFill>
              <a:srgbClr val="DDECE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912096" y="2418588"/>
            <a:ext cx="566928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476C5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05</a:t>
            </a:r>
            <a:endParaRPr lang="en-US" sz="105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9912096" y="2857500"/>
            <a:ext cx="1426464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雲端同步</a:t>
            </a:r>
            <a:endParaRPr lang="en-US" sz="165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9930384" y="3369564"/>
            <a:ext cx="1389888" cy="64008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70" dirty="0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背景同步Firebase，供跨裝置存取與備份</a:t>
            </a:r>
            <a:endParaRPr lang="en-US" sz="117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987552" y="4988052"/>
            <a:ext cx="4480560" cy="1274844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1152144" y="5170932"/>
            <a:ext cx="146304" cy="502920"/>
          </a:xfrm>
          <a:prstGeom prst="roundRect">
            <a:avLst>
              <a:gd name="adj" fmla="val 25000"/>
            </a:avLst>
          </a:prstGeom>
          <a:solidFill>
            <a:srgbClr val="6D9986"/>
          </a:solidFill>
          <a:ln w="12700">
            <a:solidFill>
              <a:srgbClr val="6D998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426464" y="5152644"/>
            <a:ext cx="387705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重點</a:t>
            </a:r>
            <a:r>
              <a:rPr lang="zh-TW" altLang="en-US" sz="1800" b="1" dirty="0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一</a:t>
            </a:r>
            <a:r>
              <a:rPr lang="en-US" sz="1800" b="1" dirty="0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：離線優先</a:t>
            </a:r>
            <a:endParaRPr lang="en-US" sz="1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1426464" y="5559552"/>
            <a:ext cx="3895344" cy="685799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00" dirty="0" err="1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即使沒有網路，使用者仍可新增與查詢資料，待連線恢復後再同步</a:t>
            </a:r>
            <a:endParaRPr 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5788152" y="4988052"/>
            <a:ext cx="5349240" cy="1274844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5952744" y="5170932"/>
            <a:ext cx="146304" cy="502920"/>
          </a:xfrm>
          <a:prstGeom prst="roundRect">
            <a:avLst>
              <a:gd name="adj" fmla="val 25000"/>
            </a:avLst>
          </a:prstGeom>
          <a:solidFill>
            <a:srgbClr val="E39A7A"/>
          </a:solidFill>
          <a:ln w="12700">
            <a:solidFill>
              <a:srgbClr val="E39A7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27064" y="5152644"/>
            <a:ext cx="474573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重點</a:t>
            </a:r>
            <a:r>
              <a:rPr lang="zh-TW" altLang="en-US" sz="1800" b="1" dirty="0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二</a:t>
            </a:r>
            <a:r>
              <a:rPr lang="en-US" sz="1800" b="1" dirty="0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：同步補償</a:t>
            </a:r>
            <a:endParaRPr lang="en-US" sz="1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6236208" y="5536692"/>
            <a:ext cx="4764024" cy="68580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00" dirty="0" err="1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同步時以帳號與時間戳記比對，避免重複寫入，並保留最新狀態</a:t>
            </a:r>
            <a:endParaRPr 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3" name="Text 0"/>
          <p:cNvSpPr/>
          <p:nvPr/>
        </p:nvSpPr>
        <p:spPr>
          <a:xfrm>
            <a:off x="640080" y="219456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D998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DATA FLOW</a:t>
            </a:r>
            <a:endParaRPr lang="en-US" sz="1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640080" y="475488"/>
            <a:ext cx="6126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zh-TW" altLang="en-US" sz="2400" b="1" dirty="0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使用者流程圖</a:t>
            </a:r>
            <a:endParaRPr lang="en-US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640080" y="932688"/>
            <a:ext cx="10972800" cy="0"/>
          </a:xfrm>
          <a:prstGeom prst="line">
            <a:avLst/>
          </a:prstGeom>
          <a:noFill/>
          <a:ln w="12700">
            <a:solidFill>
              <a:srgbClr val="D8DDD9"/>
            </a:solidFill>
            <a:prstDash val="solid"/>
          </a:ln>
        </p:spPr>
      </p:sp>
      <p:sp>
        <p:nvSpPr>
          <p:cNvPr id="6" name="Text 0"/>
          <p:cNvSpPr/>
          <p:nvPr/>
        </p:nvSpPr>
        <p:spPr>
          <a:xfrm>
            <a:off x="640080" y="219456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D998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USER FLOW</a:t>
            </a:r>
            <a:endParaRPr lang="en-US" sz="1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3" name="圖片 2" descr="mermaid-diagram-2026-04-04-161658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82575" y="1296035"/>
            <a:ext cx="11626850" cy="406844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 descr="截圖 2026-04-04 下午5.03.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9900" y="923290"/>
            <a:ext cx="4159885" cy="4133215"/>
          </a:xfrm>
          <a:prstGeom prst="rect">
            <a:avLst/>
          </a:prstGeom>
        </p:spPr>
      </p:pic>
      <p:pic>
        <p:nvPicPr>
          <p:cNvPr id="11" name="圖片 10" descr="截圖 2026-04-04 下午5.06.4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9070" y="4029075"/>
            <a:ext cx="4040505" cy="2487930"/>
          </a:xfrm>
          <a:prstGeom prst="rect">
            <a:avLst/>
          </a:prstGeom>
        </p:spPr>
      </p:pic>
      <p:pic>
        <p:nvPicPr>
          <p:cNvPr id="10" name="圖片 9" descr="截圖 2026-04-04 下午5.04.2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2100" y="1196975"/>
            <a:ext cx="3814445" cy="2263140"/>
          </a:xfrm>
          <a:prstGeom prst="rect">
            <a:avLst/>
          </a:prstGeom>
        </p:spPr>
      </p:pic>
      <p:sp>
        <p:nvSpPr>
          <p:cNvPr id="4" name="文字方塊 3"/>
          <p:cNvSpPr txBox="1"/>
          <p:nvPr/>
        </p:nvSpPr>
        <p:spPr>
          <a:xfrm>
            <a:off x="627321" y="429363"/>
            <a:ext cx="40403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b="1" dirty="0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資料庫設計邏輯</a:t>
            </a:r>
            <a:endParaRPr lang="zh-TW" altLang="en-US" sz="2400" b="1" dirty="0">
              <a:solidFill>
                <a:srgbClr val="20302D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" name="Text 0"/>
          <p:cNvSpPr/>
          <p:nvPr/>
        </p:nvSpPr>
        <p:spPr>
          <a:xfrm>
            <a:off x="746406" y="280506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D998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DATA BASE</a:t>
            </a:r>
            <a:endParaRPr lang="en-US" sz="1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" name="Shape 2"/>
          <p:cNvSpPr/>
          <p:nvPr/>
        </p:nvSpPr>
        <p:spPr>
          <a:xfrm>
            <a:off x="627380" y="894588"/>
            <a:ext cx="10972800" cy="0"/>
          </a:xfrm>
          <a:prstGeom prst="line">
            <a:avLst/>
          </a:prstGeom>
          <a:noFill/>
          <a:ln w="12700">
            <a:solidFill>
              <a:srgbClr val="D8DDD9"/>
            </a:solidFill>
            <a:prstDash val="solid"/>
          </a:ln>
        </p:spPr>
      </p:sp>
      <p:cxnSp>
        <p:nvCxnSpPr>
          <p:cNvPr id="16" name="直接箭頭連接符 15"/>
          <p:cNvCxnSpPr/>
          <p:nvPr/>
        </p:nvCxnSpPr>
        <p:spPr>
          <a:xfrm>
            <a:off x="5376545" y="1591945"/>
            <a:ext cx="1443355" cy="709295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7" name="文字框 16"/>
          <p:cNvSpPr txBox="1"/>
          <p:nvPr/>
        </p:nvSpPr>
        <p:spPr>
          <a:xfrm>
            <a:off x="4657725" y="1285240"/>
            <a:ext cx="2162175" cy="306705"/>
          </a:xfrm>
          <a:prstGeom prst="rect">
            <a:avLst/>
          </a:prstGeom>
          <a:blipFill>
            <a:blip r:embed="rId4"/>
          </a:blip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p>
            <a:r>
              <a:rPr lang="zh-TW" altLang="en-US" sz="1400" dirty="0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一個帳目可對應多筆交易</a:t>
            </a:r>
            <a:endParaRPr lang="zh-TW" altLang="en-US" sz="1400" dirty="0">
              <a:solidFill>
                <a:srgbClr val="20302D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18" name="直接箭頭連接符 17"/>
          <p:cNvCxnSpPr/>
          <p:nvPr/>
        </p:nvCxnSpPr>
        <p:spPr>
          <a:xfrm flipH="1" flipV="1">
            <a:off x="5376545" y="2721610"/>
            <a:ext cx="1443355" cy="1033145"/>
          </a:xfrm>
          <a:prstGeom prst="straightConnector1">
            <a:avLst/>
          </a:prstGeom>
          <a:ln w="6350" cap="flat" cmpd="sng" algn="ctr">
            <a:solidFill>
              <a:schemeClr val="tx1">
                <a:lumMod val="50000"/>
                <a:lumOff val="50000"/>
              </a:schemeClr>
            </a:solidFill>
            <a:prstDash val="dash"/>
            <a:miter lim="800000"/>
            <a:tailEnd type="arrow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9" name="文字框 18"/>
          <p:cNvSpPr txBox="1"/>
          <p:nvPr/>
        </p:nvSpPr>
        <p:spPr>
          <a:xfrm>
            <a:off x="4657725" y="3762375"/>
            <a:ext cx="2162175" cy="521970"/>
          </a:xfrm>
          <a:prstGeom prst="rect">
            <a:avLst/>
          </a:prstGeom>
          <a:blipFill>
            <a:blip r:embed="rId4"/>
          </a:blip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p>
            <a:r>
              <a:rPr lang="zh-TW" altLang="en-US" sz="1400" dirty="0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交易紀錄透過帳戶名稱回寫餘額</a:t>
            </a:r>
            <a:endParaRPr lang="zh-TW" altLang="en-US" sz="1400" dirty="0">
              <a:solidFill>
                <a:srgbClr val="20302D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21" name="曲線連接符 20"/>
          <p:cNvCxnSpPr/>
          <p:nvPr/>
        </p:nvCxnSpPr>
        <p:spPr>
          <a:xfrm>
            <a:off x="5489575" y="4885055"/>
            <a:ext cx="1330325" cy="3175"/>
          </a:xfrm>
          <a:prstGeom prst="curvedConnector2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2" name="文字框 21"/>
          <p:cNvSpPr txBox="1"/>
          <p:nvPr/>
        </p:nvSpPr>
        <p:spPr>
          <a:xfrm>
            <a:off x="5376545" y="5022215"/>
            <a:ext cx="2162175" cy="737235"/>
          </a:xfrm>
          <a:prstGeom prst="rect">
            <a:avLst/>
          </a:prstGeom>
          <a:blipFill>
            <a:blip r:embed="rId4"/>
          </a:blip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p>
            <a:r>
              <a:rPr lang="zh-TW" altLang="en-US" sz="1400" dirty="0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年</a:t>
            </a:r>
            <a:r>
              <a:rPr lang="en-US" altLang="zh-TW" sz="1400" dirty="0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sz="1400" dirty="0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月統計</a:t>
            </a:r>
            <a:endParaRPr lang="zh-TW" altLang="en-US" sz="1400" dirty="0">
              <a:solidFill>
                <a:srgbClr val="20302D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1400" dirty="0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依所選月份計算支出並比對預算</a:t>
            </a:r>
            <a:endParaRPr lang="en-US" altLang="zh-TW" sz="1400" dirty="0">
              <a:solidFill>
                <a:srgbClr val="20302D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32" name="肘形連接符 31"/>
          <p:cNvCxnSpPr/>
          <p:nvPr/>
        </p:nvCxnSpPr>
        <p:spPr>
          <a:xfrm>
            <a:off x="5489575" y="6122670"/>
            <a:ext cx="2369820" cy="495935"/>
          </a:xfrm>
          <a:prstGeom prst="bentConnector3">
            <a:avLst>
              <a:gd name="adj1" fmla="val 50027"/>
            </a:avLst>
          </a:prstGeom>
          <a:ln w="6350" cap="flat" cmpd="sng" algn="ctr">
            <a:solidFill>
              <a:schemeClr val="tx1">
                <a:lumMod val="50000"/>
                <a:lumOff val="50000"/>
              </a:schemeClr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3" name="肘形連接符 32"/>
          <p:cNvCxnSpPr/>
          <p:nvPr/>
        </p:nvCxnSpPr>
        <p:spPr>
          <a:xfrm rot="16200000">
            <a:off x="7512050" y="5431790"/>
            <a:ext cx="1534160" cy="840105"/>
          </a:xfrm>
          <a:prstGeom prst="bentConnector3">
            <a:avLst>
              <a:gd name="adj1" fmla="val 49979"/>
            </a:avLst>
          </a:prstGeom>
          <a:ln w="6350" cap="flat" cmpd="sng" algn="ctr">
            <a:solidFill>
              <a:schemeClr val="tx1">
                <a:lumMod val="50000"/>
                <a:lumOff val="50000"/>
              </a:schemeClr>
            </a:solidFill>
            <a:prstDash val="dash"/>
            <a:miter lim="800000"/>
            <a:tailEnd type="arrow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5" name="文字框 34"/>
          <p:cNvSpPr txBox="1"/>
          <p:nvPr/>
        </p:nvSpPr>
        <p:spPr>
          <a:xfrm>
            <a:off x="8801100" y="5226050"/>
            <a:ext cx="2294255" cy="737235"/>
          </a:xfrm>
          <a:prstGeom prst="rect">
            <a:avLst/>
          </a:prstGeom>
          <a:blipFill>
            <a:blip r:embed="rId4"/>
          </a:blip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noAutofit/>
          </a:bodyPr>
          <a:p>
            <a:r>
              <a:rPr lang="en-US" altLang="zh-TW" sz="1400" dirty="0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BUDGETS </a:t>
            </a:r>
            <a:r>
              <a:rPr lang="zh-TW" altLang="en-US" sz="1400" dirty="0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以</a:t>
            </a:r>
            <a:r>
              <a:rPr lang="en-US" altLang="zh-TW" sz="1400" dirty="0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sz="1400" dirty="0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year + month</a:t>
            </a:r>
            <a:r>
              <a:rPr lang="en-US" altLang="zh-TW" sz="1400" dirty="0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sz="1400" dirty="0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為複合主鍵</a:t>
            </a:r>
            <a:endParaRPr lang="zh-TW" altLang="en-US" sz="1400" dirty="0">
              <a:solidFill>
                <a:srgbClr val="20302D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1400" dirty="0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不直接儲存外鍵關聯</a:t>
            </a:r>
            <a:endParaRPr lang="zh-TW" altLang="en-US" sz="1400" dirty="0">
              <a:solidFill>
                <a:srgbClr val="20302D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19456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D998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TECH STACK</a:t>
            </a:r>
            <a:endParaRPr lang="en-US" sz="1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475488"/>
            <a:ext cx="6126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開發工具／技術</a:t>
            </a:r>
            <a:endParaRPr lang="en-US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932688"/>
            <a:ext cx="10972800" cy="0"/>
          </a:xfrm>
          <a:prstGeom prst="line">
            <a:avLst/>
          </a:prstGeom>
          <a:noFill/>
          <a:ln w="12700">
            <a:solidFill>
              <a:srgbClr val="D8DD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9380" y="1388866"/>
            <a:ext cx="1828800" cy="2834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DDD9"/>
            </a:solidFill>
            <a:prstDash val="solid"/>
          </a:ln>
          <a:effectLst>
            <a:outerShdw blurRad="10160" dist="254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22300" y="1708906"/>
            <a:ext cx="822960" cy="822960"/>
          </a:xfrm>
          <a:prstGeom prst="ellipse">
            <a:avLst/>
          </a:prstGeom>
          <a:solidFill>
            <a:srgbClr val="7F52FF"/>
          </a:solidFill>
          <a:ln w="12700">
            <a:solidFill>
              <a:srgbClr val="7F52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2300" y="1964938"/>
            <a:ext cx="82296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K</a:t>
            </a:r>
            <a:endParaRPr lang="en-US" sz="2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" name="Text 7"/>
          <p:cNvSpPr/>
          <p:nvPr/>
        </p:nvSpPr>
        <p:spPr>
          <a:xfrm>
            <a:off x="283972" y="2714746"/>
            <a:ext cx="1499616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Kotlin</a:t>
            </a:r>
            <a:endParaRPr lang="en-US" sz="17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83972" y="3089650"/>
            <a:ext cx="1499616" cy="713232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主力開發語言</a:t>
            </a:r>
            <a:endParaRPr lang="en-US" sz="122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2116455" y="1388866"/>
            <a:ext cx="1828800" cy="2834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DDD9"/>
            </a:solidFill>
            <a:prstDash val="solid"/>
          </a:ln>
          <a:effectLst>
            <a:outerShdw blurRad="10160" dist="254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619375" y="1708906"/>
            <a:ext cx="822960" cy="822960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19375" y="1964938"/>
            <a:ext cx="82296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A</a:t>
            </a:r>
            <a:endParaRPr lang="en-US" sz="2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2281047" y="2714746"/>
            <a:ext cx="1499616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Android Studio</a:t>
            </a:r>
            <a:endParaRPr lang="en-US" sz="17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2281047" y="3180455"/>
            <a:ext cx="1499616" cy="713232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開發、除錯、模擬器測試</a:t>
            </a:r>
            <a:endParaRPr lang="en-US" sz="1220" dirty="0">
              <a:solidFill>
                <a:srgbClr val="5E6F69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Noto Sans CJK TC" pitchFamily="34" charset="-12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113530" y="1388866"/>
            <a:ext cx="1828800" cy="2834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DDD9"/>
            </a:solidFill>
            <a:prstDash val="solid"/>
          </a:ln>
          <a:effectLst>
            <a:outerShdw blurRad="10160" dist="254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16450" y="1708906"/>
            <a:ext cx="822960" cy="822960"/>
          </a:xfrm>
          <a:prstGeom prst="ellipse">
            <a:avLst/>
          </a:prstGeom>
          <a:solidFill>
            <a:srgbClr val="0F6AB4"/>
          </a:solidFill>
          <a:ln w="12700">
            <a:solidFill>
              <a:srgbClr val="0F6AB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16450" y="1964938"/>
            <a:ext cx="82296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R</a:t>
            </a:r>
            <a:endParaRPr lang="en-US" sz="2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278122" y="2714746"/>
            <a:ext cx="1499616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Room / SQLite</a:t>
            </a:r>
            <a:endParaRPr lang="en-US" sz="17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278122" y="3187440"/>
            <a:ext cx="1499616" cy="713232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本機主要資料</a:t>
            </a:r>
            <a:r>
              <a:rPr lang="en-US" sz="1220" dirty="0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來源、支援離線使用</a:t>
            </a:r>
            <a:endParaRPr lang="zh-TW" altLang="en-US" sz="1220" dirty="0">
              <a:solidFill>
                <a:srgbClr val="5E6F69"/>
              </a:solidFill>
              <a:latin typeface="微軟正黑體" panose="020B0604030504040204" pitchFamily="34" charset="-120"/>
              <a:ea typeface="新細明體" charset="0"/>
              <a:cs typeface="Noto Sans CJK TC" pitchFamily="34" charset="-12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110605" y="1388866"/>
            <a:ext cx="1828800" cy="2834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DDD9"/>
            </a:solidFill>
            <a:prstDash val="solid"/>
          </a:ln>
          <a:effectLst>
            <a:outerShdw blurRad="10160" dist="254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613525" y="1708906"/>
            <a:ext cx="822960" cy="822960"/>
          </a:xfrm>
          <a:prstGeom prst="ellipse">
            <a:avLst/>
          </a:prstGeom>
          <a:solidFill>
            <a:srgbClr val="FFCA28"/>
          </a:solidFill>
          <a:ln w="12700">
            <a:solidFill>
              <a:srgbClr val="FFCA2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13525" y="1964938"/>
            <a:ext cx="82296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F</a:t>
            </a:r>
            <a:endParaRPr lang="en-US" sz="2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275197" y="2714746"/>
            <a:ext cx="1499616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Firebase Auth</a:t>
            </a:r>
            <a:endParaRPr lang="en-US" sz="17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275197" y="3180455"/>
            <a:ext cx="1499616" cy="713232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登入</a:t>
            </a:r>
            <a:r>
              <a:rPr lang="en-US" sz="1220" dirty="0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與身份管理、雲端資料同步</a:t>
            </a:r>
            <a:endParaRPr lang="en-US" sz="122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1021080" y="5246104"/>
            <a:ext cx="10149840" cy="731520"/>
          </a:xfrm>
          <a:prstGeom prst="roundRect">
            <a:avLst>
              <a:gd name="adj" fmla="val 10000"/>
            </a:avLst>
          </a:prstGeom>
          <a:solidFill>
            <a:srgbClr val="DDECE4"/>
          </a:solidFill>
          <a:ln w="12700">
            <a:solidFill>
              <a:srgbClr val="DDECE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303020" y="5309235"/>
            <a:ext cx="9646920" cy="629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76C5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核心重點：技術選型不是堆工具，而是對應實際應用所需</a:t>
            </a:r>
            <a:endParaRPr lang="en-US" sz="1600" b="1" dirty="0">
              <a:solidFill>
                <a:srgbClr val="476C5D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Noto Sans CJK TC" pitchFamily="34" charset="-120"/>
            </a:endParaRPr>
          </a:p>
        </p:txBody>
      </p:sp>
      <p:sp>
        <p:nvSpPr>
          <p:cNvPr id="5" name="Shape 9"/>
          <p:cNvSpPr/>
          <p:nvPr/>
        </p:nvSpPr>
        <p:spPr>
          <a:xfrm>
            <a:off x="8107680" y="1388866"/>
            <a:ext cx="1828800" cy="2834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DDD9"/>
            </a:solidFill>
            <a:prstDash val="solid"/>
          </a:ln>
          <a:effectLst>
            <a:outerShdw blurRad="10160" dist="254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28" name="Shape 10"/>
          <p:cNvSpPr/>
          <p:nvPr/>
        </p:nvSpPr>
        <p:spPr>
          <a:xfrm>
            <a:off x="8610600" y="1708906"/>
            <a:ext cx="822960" cy="822960"/>
          </a:xfrm>
          <a:prstGeom prst="ellipse">
            <a:avLst/>
          </a:prstGeom>
          <a:solidFill>
            <a:schemeClr val="accent2"/>
          </a:solidFill>
          <a:ln w="12700">
            <a:solidFill>
              <a:srgbClr val="3DDC84"/>
            </a:solidFill>
            <a:prstDash val="solid"/>
          </a:ln>
        </p:spPr>
      </p:sp>
      <p:sp>
        <p:nvSpPr>
          <p:cNvPr id="29" name="Text 11"/>
          <p:cNvSpPr/>
          <p:nvPr/>
        </p:nvSpPr>
        <p:spPr>
          <a:xfrm>
            <a:off x="8610600" y="1964938"/>
            <a:ext cx="82296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C</a:t>
            </a:r>
            <a:endParaRPr lang="en-US" sz="2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0" name="Text 12"/>
          <p:cNvSpPr/>
          <p:nvPr/>
        </p:nvSpPr>
        <p:spPr>
          <a:xfrm>
            <a:off x="8272272" y="2714746"/>
            <a:ext cx="1499616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HK" sz="17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Cloud Firestore</a:t>
            </a:r>
            <a:endParaRPr lang="en-US" altLang="zh-HK" sz="17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1" name="Text 13"/>
          <p:cNvSpPr/>
          <p:nvPr/>
        </p:nvSpPr>
        <p:spPr>
          <a:xfrm>
            <a:off x="8272272" y="3180455"/>
            <a:ext cx="1499616" cy="713232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zh-HK" altLang="en-US" sz="1220" dirty="0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資料備份與跨裝置還原</a:t>
            </a:r>
            <a:endParaRPr lang="zh-HK" altLang="en-US" sz="1220" dirty="0">
              <a:solidFill>
                <a:srgbClr val="5E6F69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Noto Sans CJK TC" pitchFamily="34" charset="-120"/>
            </a:endParaRPr>
          </a:p>
        </p:txBody>
      </p:sp>
      <p:sp>
        <p:nvSpPr>
          <p:cNvPr id="32" name="Shape 9"/>
          <p:cNvSpPr/>
          <p:nvPr/>
        </p:nvSpPr>
        <p:spPr>
          <a:xfrm>
            <a:off x="10104755" y="1388866"/>
            <a:ext cx="1828800" cy="2834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DDD9"/>
            </a:solidFill>
            <a:prstDash val="solid"/>
          </a:ln>
          <a:effectLst>
            <a:outerShdw blurRad="10160" dist="254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33" name="Shape 10"/>
          <p:cNvSpPr/>
          <p:nvPr/>
        </p:nvSpPr>
        <p:spPr>
          <a:xfrm>
            <a:off x="10607675" y="1708906"/>
            <a:ext cx="822960" cy="822960"/>
          </a:xfrm>
          <a:prstGeom prst="ellipse">
            <a:avLst/>
          </a:prstGeom>
          <a:solidFill>
            <a:schemeClr val="accent2">
              <a:lumMod val="50000"/>
            </a:schemeClr>
          </a:solidFill>
          <a:ln w="12700">
            <a:solidFill>
              <a:srgbClr val="3DDC84"/>
            </a:solidFill>
            <a:prstDash val="solid"/>
          </a:ln>
        </p:spPr>
      </p:sp>
      <p:sp>
        <p:nvSpPr>
          <p:cNvPr id="34" name="Text 11"/>
          <p:cNvSpPr/>
          <p:nvPr/>
        </p:nvSpPr>
        <p:spPr>
          <a:xfrm>
            <a:off x="10607675" y="1964938"/>
            <a:ext cx="82296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M</a:t>
            </a:r>
            <a:endParaRPr lang="en-US" sz="2200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5" name="Text 12"/>
          <p:cNvSpPr/>
          <p:nvPr/>
        </p:nvSpPr>
        <p:spPr>
          <a:xfrm>
            <a:off x="10269347" y="2714746"/>
            <a:ext cx="1499616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HK" sz="17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MPAndroidChart</a:t>
            </a:r>
            <a:endParaRPr lang="en-US" altLang="zh-HK" sz="17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6" name="Text 13"/>
          <p:cNvSpPr/>
          <p:nvPr/>
        </p:nvSpPr>
        <p:spPr>
          <a:xfrm>
            <a:off x="10269347" y="3180455"/>
            <a:ext cx="1499616" cy="713232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zh-HK" altLang="en-US" sz="1220" dirty="0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圓餅圖與長條圖視覺化</a:t>
            </a:r>
            <a:endParaRPr lang="zh-HK" altLang="en-US" sz="1220" dirty="0">
              <a:solidFill>
                <a:srgbClr val="5E6F69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Noto Sans CJK TC" pitchFamily="34" charset="-12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19456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D998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DELIVERY FLOW</a:t>
            </a:r>
            <a:endParaRPr lang="en-US" sz="1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475488"/>
            <a:ext cx="6126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開發流程</a:t>
            </a:r>
            <a:endParaRPr lang="en-US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932688"/>
            <a:ext cx="10972800" cy="0"/>
          </a:xfrm>
          <a:prstGeom prst="line">
            <a:avLst/>
          </a:prstGeom>
          <a:noFill/>
          <a:ln w="12700">
            <a:solidFill>
              <a:srgbClr val="D8DD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41832" y="2139696"/>
            <a:ext cx="475488" cy="0"/>
          </a:xfrm>
          <a:prstGeom prst="line">
            <a:avLst/>
          </a:prstGeom>
          <a:noFill/>
          <a:ln w="25400">
            <a:solidFill>
              <a:srgbClr val="6D998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865376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DDECE4"/>
          </a:solidFill>
          <a:ln w="12700">
            <a:solidFill>
              <a:srgbClr val="DDEC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965960"/>
            <a:ext cx="384048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476C5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1</a:t>
            </a:r>
            <a:endParaRPr lang="en-US" sz="102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783080" y="1965960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需求分析</a:t>
            </a:r>
            <a:endParaRPr 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899241" y="2281535"/>
            <a:ext cx="38862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400" dirty="0" err="1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定義使用者、功能清單範圍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941832" y="2807208"/>
            <a:ext cx="475488" cy="0"/>
          </a:xfrm>
          <a:prstGeom prst="line">
            <a:avLst/>
          </a:prstGeom>
          <a:noFill/>
          <a:ln w="25400">
            <a:solidFill>
              <a:srgbClr val="6D998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253288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6DCCB"/>
          </a:solidFill>
          <a:ln w="12700">
            <a:solidFill>
              <a:srgbClr val="F6DCC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633472"/>
            <a:ext cx="384048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E39A7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2</a:t>
            </a:r>
            <a:endParaRPr lang="en-US" sz="102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783080" y="2665583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資訊架構</a:t>
            </a:r>
            <a:endParaRPr 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899241" y="2949047"/>
            <a:ext cx="38862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規劃資料表、欄位、頁面關係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941832" y="3474720"/>
            <a:ext cx="475488" cy="0"/>
          </a:xfrm>
          <a:prstGeom prst="line">
            <a:avLst/>
          </a:prstGeom>
          <a:noFill/>
          <a:ln w="25400">
            <a:solidFill>
              <a:srgbClr val="6D998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DDECE4"/>
          </a:solidFill>
          <a:ln w="12700">
            <a:solidFill>
              <a:srgbClr val="DDECE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300984"/>
            <a:ext cx="384048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476C5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3</a:t>
            </a:r>
            <a:endParaRPr lang="en-US" sz="102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783080" y="3333095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UI 原型</a:t>
            </a:r>
            <a:endParaRPr 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899241" y="3616559"/>
            <a:ext cx="38862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確認首頁、記帳頁、報表頁操作流程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941832" y="4142232"/>
            <a:ext cx="475488" cy="0"/>
          </a:xfrm>
          <a:prstGeom prst="line">
            <a:avLst/>
          </a:prstGeom>
          <a:noFill/>
          <a:ln w="25400">
            <a:solidFill>
              <a:srgbClr val="6D998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" y="386791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6DCCB"/>
          </a:solidFill>
          <a:ln w="12700">
            <a:solidFill>
              <a:srgbClr val="F6DCC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3968496"/>
            <a:ext cx="384048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E39A7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4</a:t>
            </a:r>
            <a:endParaRPr lang="en-US" sz="102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783080" y="4000607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功能開發</a:t>
            </a:r>
            <a:endParaRPr 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1899241" y="4284071"/>
            <a:ext cx="38862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依模組完成交易、預算、同步功能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941832" y="4809744"/>
            <a:ext cx="475488" cy="0"/>
          </a:xfrm>
          <a:prstGeom prst="line">
            <a:avLst/>
          </a:prstGeom>
          <a:noFill/>
          <a:ln w="25400">
            <a:solidFill>
              <a:srgbClr val="6D998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0080" y="4535424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DDECE4"/>
          </a:solidFill>
          <a:ln w="12700">
            <a:solidFill>
              <a:srgbClr val="DDECE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4636008"/>
            <a:ext cx="384048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476C5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5</a:t>
            </a:r>
            <a:endParaRPr lang="en-US" sz="102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1783080" y="4668119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測試修正</a:t>
            </a:r>
            <a:endParaRPr 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1899241" y="4951583"/>
            <a:ext cx="38862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驗證流程、修復bug、調整體驗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941832" y="5477256"/>
            <a:ext cx="475488" cy="0"/>
          </a:xfrm>
          <a:prstGeom prst="line">
            <a:avLst/>
          </a:prstGeom>
          <a:noFill/>
          <a:ln w="25400">
            <a:solidFill>
              <a:srgbClr val="6D998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0080" y="5202936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6DCCB"/>
          </a:solidFill>
          <a:ln w="12700">
            <a:solidFill>
              <a:srgbClr val="F6DCC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" y="5303520"/>
            <a:ext cx="384048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E39A7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6</a:t>
            </a:r>
            <a:endParaRPr lang="en-US" sz="102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1783080" y="5335631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發表</a:t>
            </a:r>
            <a:r>
              <a:rPr lang="zh-TW" altLang="en-US" b="1" dirty="0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完善</a:t>
            </a:r>
            <a:endParaRPr lang="zh-TW" altLang="en-US" b="1" dirty="0">
              <a:solidFill>
                <a:srgbClr val="20302D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Noto Sans CJK TC" pitchFamily="34" charset="-12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1899241" y="5619095"/>
            <a:ext cx="38862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整理成果、規劃</a:t>
            </a:r>
            <a:r>
              <a:rPr lang="zh-TW" altLang="en-US" sz="1400" dirty="0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之後</a:t>
            </a:r>
            <a:r>
              <a:rPr lang="en-US" sz="1400" dirty="0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版</a:t>
            </a:r>
            <a:r>
              <a:rPr lang="zh-TW" altLang="en-US" sz="1400" dirty="0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本</a:t>
            </a:r>
            <a:r>
              <a:rPr lang="en-US" sz="1400" dirty="0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功能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5806440" y="1828800"/>
            <a:ext cx="484632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D8DDD9"/>
            </a:solidFill>
            <a:prstDash val="solid"/>
          </a:ln>
          <a:effectLst>
            <a:outerShdw blurRad="10160" dist="2540" dir="2700000" algn="bl" rotWithShape="0">
              <a:srgbClr val="000000">
                <a:alpha val="6000"/>
              </a:srgbClr>
            </a:outerShdw>
          </a:effectLst>
        </p:spPr>
      </p:sp>
      <p:pic>
        <p:nvPicPr>
          <p:cNvPr id="37" name="Image 0" descr="/mnt/data/work/dev_team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5684" y="2029968"/>
            <a:ext cx="3246120" cy="32461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19456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D998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UI CONCEPT</a:t>
            </a:r>
            <a:endParaRPr lang="en-US" sz="1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475488"/>
            <a:ext cx="6126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UI / UX 設計邏輯</a:t>
            </a:r>
            <a:endParaRPr lang="en-US" sz="2400" b="1" dirty="0">
              <a:solidFill>
                <a:srgbClr val="20302D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Noto Sans CJK TC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932688"/>
            <a:ext cx="10972800" cy="0"/>
          </a:xfrm>
          <a:prstGeom prst="line">
            <a:avLst/>
          </a:prstGeom>
          <a:noFill/>
          <a:ln w="12700">
            <a:solidFill>
              <a:srgbClr val="D8DD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115695"/>
            <a:ext cx="3499485" cy="3841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 err="1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介面重點不是塞</a:t>
            </a:r>
            <a:r>
              <a:rPr lang="zh-TW" altLang="en-US" sz="1650" dirty="0" err="1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越</a:t>
            </a:r>
            <a:r>
              <a:rPr lang="en-US" sz="1650" dirty="0" err="1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多功能</a:t>
            </a:r>
            <a:r>
              <a:rPr lang="zh-TW" altLang="en-US" sz="1650" dirty="0" err="1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越好</a:t>
            </a:r>
            <a:r>
              <a:rPr lang="en-US" sz="1650" dirty="0" err="1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，</a:t>
            </a:r>
            <a:endParaRPr lang="en-US" sz="1650" dirty="0" err="1">
              <a:solidFill>
                <a:srgbClr val="5E6F69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Noto Sans CJK TC" pitchFamily="34" charset="-120"/>
            </a:endParaRPr>
          </a:p>
          <a:p>
            <a:pPr marL="0" indent="0">
              <a:buNone/>
            </a:pPr>
            <a:r>
              <a:rPr lang="en-US" sz="1650" dirty="0" err="1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而是</a:t>
            </a:r>
            <a:r>
              <a:rPr lang="zh-TW" altLang="en-US" sz="1650" dirty="0" err="1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只留下</a:t>
            </a:r>
            <a:r>
              <a:rPr lang="en-US" sz="1650" dirty="0" err="1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常用</a:t>
            </a:r>
            <a:r>
              <a:rPr lang="zh-TW" altLang="en-US" sz="1650" dirty="0" err="1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且重要</a:t>
            </a:r>
            <a:r>
              <a:rPr lang="en-US" sz="1650" dirty="0" err="1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的</a:t>
            </a:r>
            <a:r>
              <a:rPr lang="zh-TW" altLang="en-US" sz="1650" dirty="0" err="1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功能</a:t>
            </a:r>
            <a:endParaRPr lang="zh-TW" altLang="en-US" sz="1650" dirty="0" err="1">
              <a:solidFill>
                <a:srgbClr val="5E6F69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Noto Sans CJK TC" pitchFamily="34" charset="-12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873760" y="2654300"/>
            <a:ext cx="48158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038352" y="2837306"/>
            <a:ext cx="146304" cy="685800"/>
          </a:xfrm>
          <a:prstGeom prst="roundRect">
            <a:avLst>
              <a:gd name="adj" fmla="val 25000"/>
            </a:avLst>
          </a:prstGeom>
          <a:solidFill>
            <a:srgbClr val="6D9986"/>
          </a:solidFill>
          <a:ln w="12700">
            <a:solidFill>
              <a:srgbClr val="6D998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312672" y="2819018"/>
            <a:ext cx="497433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主頁</a:t>
            </a:r>
            <a:r>
              <a:rPr lang="zh-TW" altLang="en-US" sz="1800" b="1" dirty="0">
                <a:solidFill>
                  <a:srgbClr val="20302D"/>
                </a:solidFill>
                <a:latin typeface="微軟正黑體" panose="020B0604030504040204" pitchFamily="34" charset="-120"/>
                <a:ea typeface="新細明體" charset="0"/>
                <a:cs typeface="Noto Sans CJK TC" pitchFamily="34" charset="-120"/>
              </a:rPr>
              <a:t>（</a:t>
            </a:r>
            <a:r>
              <a:rPr lang="en-US" altLang="zh-HK" sz="1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Dashboard</a:t>
            </a:r>
            <a:r>
              <a:rPr lang="zh-TW" altLang="en-US" sz="1800" b="1" dirty="0">
                <a:latin typeface="微軟正黑體" panose="020B0604030504040204" pitchFamily="34" charset="-120"/>
                <a:ea typeface="新細明體" charset="0"/>
              </a:rPr>
              <a:t>）</a:t>
            </a:r>
            <a:endParaRPr lang="zh-TW" altLang="en-US" sz="1800" b="1" dirty="0">
              <a:latin typeface="微軟正黑體" panose="020B0604030504040204" pitchFamily="34" charset="-120"/>
              <a:ea typeface="新細明體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1312672" y="3166490"/>
            <a:ext cx="4992624" cy="3931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50" dirty="0" err="1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顯示</a:t>
            </a:r>
            <a:r>
              <a:rPr lang="zh-HK" altLang="en-US" sz="1350" dirty="0" err="1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當月收支、預算使用率、最近交易</a:t>
            </a:r>
            <a:endParaRPr lang="zh-HK" altLang="en-US" sz="1350" dirty="0" err="1">
              <a:solidFill>
                <a:srgbClr val="5E6F69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Noto Sans CJK TC" pitchFamily="34" charset="-12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873760" y="4153535"/>
            <a:ext cx="48133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1038352" y="4336541"/>
            <a:ext cx="146304" cy="685800"/>
          </a:xfrm>
          <a:prstGeom prst="roundRect">
            <a:avLst>
              <a:gd name="adj" fmla="val 25000"/>
            </a:avLst>
          </a:prstGeom>
          <a:solidFill>
            <a:srgbClr val="E39A7A"/>
          </a:solidFill>
          <a:ln w="12700">
            <a:solidFill>
              <a:srgbClr val="E39A7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312672" y="4318253"/>
            <a:ext cx="497433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記帳</a:t>
            </a:r>
            <a:r>
              <a:rPr lang="zh-TW" altLang="en-US" sz="1800" b="1" dirty="0">
                <a:solidFill>
                  <a:srgbClr val="20302D"/>
                </a:solidFill>
                <a:latin typeface="微軟正黑體" panose="020B0604030504040204" pitchFamily="34" charset="-120"/>
                <a:ea typeface="新細明體" charset="0"/>
                <a:cs typeface="Noto Sans CJK TC" pitchFamily="34" charset="-120"/>
              </a:rPr>
              <a:t>（</a:t>
            </a:r>
            <a:r>
              <a:rPr lang="en-US" altLang="zh-HK" sz="1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Transaction</a:t>
            </a:r>
            <a:r>
              <a:rPr lang="zh-TW" altLang="en-US" sz="1800" b="1" dirty="0">
                <a:latin typeface="微軟正黑體" panose="020B0604030504040204" pitchFamily="34" charset="-120"/>
                <a:ea typeface="新細明體" charset="0"/>
              </a:rPr>
              <a:t>）</a:t>
            </a:r>
            <a:endParaRPr lang="zh-TW" altLang="en-US" sz="1800" b="1" dirty="0">
              <a:latin typeface="微軟正黑體" panose="020B0604030504040204" pitchFamily="34" charset="-120"/>
              <a:ea typeface="新細明體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1312672" y="4665725"/>
            <a:ext cx="4992624" cy="3931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50" dirty="0" err="1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金額、類別、錢包、備註集中於單頁，降低操作切換成本</a:t>
            </a:r>
            <a:endParaRPr lang="en-US" sz="135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6268085" y="3230245"/>
            <a:ext cx="48310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432677" y="3413251"/>
            <a:ext cx="146304" cy="685800"/>
          </a:xfrm>
          <a:prstGeom prst="roundRect">
            <a:avLst>
              <a:gd name="adj" fmla="val 25000"/>
            </a:avLst>
          </a:prstGeom>
          <a:solidFill>
            <a:srgbClr val="E8C56A"/>
          </a:solidFill>
          <a:ln w="12700">
            <a:solidFill>
              <a:srgbClr val="E8C56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706997" y="3394963"/>
            <a:ext cx="497433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報表分析</a:t>
            </a:r>
            <a:r>
              <a:rPr lang="zh-TW" altLang="en-US" sz="1800" b="1" dirty="0">
                <a:solidFill>
                  <a:srgbClr val="20302D"/>
                </a:solidFill>
                <a:latin typeface="微軟正黑體" panose="020B0604030504040204" pitchFamily="34" charset="-120"/>
                <a:ea typeface="新細明體" charset="0"/>
                <a:cs typeface="Noto Sans CJK TC" pitchFamily="34" charset="-120"/>
              </a:rPr>
              <a:t>（</a:t>
            </a:r>
            <a:r>
              <a:rPr lang="en-US" altLang="zh-HK" sz="1800" b="1" dirty="0">
                <a:solidFill>
                  <a:srgbClr val="20302D"/>
                </a:solidFill>
                <a:latin typeface="微軟正黑體" panose="020B0604030504040204" pitchFamily="34" charset="-120"/>
                <a:ea typeface="新細明體" charset="0"/>
                <a:cs typeface="Noto Sans CJK TC" pitchFamily="34" charset="-120"/>
              </a:rPr>
              <a:t>Analytics</a:t>
            </a:r>
            <a:r>
              <a:rPr lang="zh-TW" altLang="en-US" sz="1800" b="1" dirty="0">
                <a:solidFill>
                  <a:srgbClr val="20302D"/>
                </a:solidFill>
                <a:latin typeface="微軟正黑體" panose="020B0604030504040204" pitchFamily="34" charset="-120"/>
                <a:ea typeface="新細明體" charset="0"/>
                <a:cs typeface="Noto Sans CJK TC" pitchFamily="34" charset="-120"/>
              </a:rPr>
              <a:t>）</a:t>
            </a:r>
            <a:endParaRPr lang="zh-TW" altLang="en-US" sz="1800" b="1" dirty="0">
              <a:solidFill>
                <a:srgbClr val="20302D"/>
              </a:solidFill>
              <a:latin typeface="微軟正黑體" panose="020B0604030504040204" pitchFamily="34" charset="-120"/>
              <a:ea typeface="新細明體" charset="0"/>
              <a:cs typeface="Noto Sans CJK TC" pitchFamily="34" charset="-12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6706997" y="3742435"/>
            <a:ext cx="4992624" cy="3931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50" dirty="0" err="1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分類占比、趨勢圖、區間查詢</a:t>
            </a:r>
            <a:endParaRPr lang="en-US" sz="1350" dirty="0" err="1">
              <a:solidFill>
                <a:srgbClr val="5E6F69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Noto Sans CJK TC" pitchFamily="34" charset="-120"/>
            </a:endParaRPr>
          </a:p>
        </p:txBody>
      </p:sp>
      <p:sp>
        <p:nvSpPr>
          <p:cNvPr id="22" name="Shape 5"/>
          <p:cNvSpPr/>
          <p:nvPr/>
        </p:nvSpPr>
        <p:spPr>
          <a:xfrm>
            <a:off x="6268085" y="1685290"/>
            <a:ext cx="48158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6"/>
          <p:cNvSpPr/>
          <p:nvPr/>
        </p:nvSpPr>
        <p:spPr>
          <a:xfrm>
            <a:off x="6432677" y="1868296"/>
            <a:ext cx="146304" cy="685800"/>
          </a:xfrm>
          <a:prstGeom prst="roundRect">
            <a:avLst>
              <a:gd name="adj" fmla="val 25000"/>
            </a:avLst>
          </a:prstGeom>
          <a:solidFill>
            <a:srgbClr val="4E96CA"/>
          </a:solidFill>
          <a:ln w="12700">
            <a:solidFill>
              <a:srgbClr val="6D9986"/>
            </a:solidFill>
            <a:prstDash val="solid"/>
          </a:ln>
        </p:spPr>
      </p:sp>
      <p:sp>
        <p:nvSpPr>
          <p:cNvPr id="24" name="Text 7"/>
          <p:cNvSpPr/>
          <p:nvPr/>
        </p:nvSpPr>
        <p:spPr>
          <a:xfrm>
            <a:off x="6706997" y="1850008"/>
            <a:ext cx="497433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資產</a:t>
            </a:r>
            <a:r>
              <a:rPr lang="zh-TW" altLang="en-US" sz="1800" b="1" dirty="0">
                <a:solidFill>
                  <a:srgbClr val="20302D"/>
                </a:solidFill>
                <a:latin typeface="微軟正黑體" panose="020B0604030504040204" pitchFamily="34" charset="-120"/>
                <a:ea typeface="新細明體" charset="0"/>
                <a:cs typeface="Noto Sans CJK TC" pitchFamily="34" charset="-120"/>
              </a:rPr>
              <a:t>（</a:t>
            </a:r>
            <a:r>
              <a:rPr lang="en-US" altLang="zh-HK" sz="1800" b="1" dirty="0">
                <a:latin typeface="微軟正黑體" panose="020B0604030504040204" pitchFamily="34" charset="-120"/>
                <a:ea typeface="新細明體" charset="0"/>
              </a:rPr>
              <a:t>Assets</a:t>
            </a:r>
            <a:r>
              <a:rPr lang="zh-TW" altLang="en-US" sz="1800" b="1" dirty="0">
                <a:latin typeface="微軟正黑體" panose="020B0604030504040204" pitchFamily="34" charset="-120"/>
                <a:ea typeface="新細明體" charset="0"/>
              </a:rPr>
              <a:t>）</a:t>
            </a:r>
            <a:endParaRPr lang="zh-TW" altLang="en-US" sz="1800" b="1" dirty="0">
              <a:latin typeface="微軟正黑體" panose="020B0604030504040204" pitchFamily="34" charset="-120"/>
              <a:ea typeface="新細明體" charset="0"/>
            </a:endParaRPr>
          </a:p>
        </p:txBody>
      </p:sp>
      <p:sp>
        <p:nvSpPr>
          <p:cNvPr id="25" name="Text 8"/>
          <p:cNvSpPr/>
          <p:nvPr/>
        </p:nvSpPr>
        <p:spPr>
          <a:xfrm>
            <a:off x="6706997" y="2197480"/>
            <a:ext cx="4992624" cy="3931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zh-HK" altLang="en-US" sz="1350" dirty="0" err="1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帳戶管理、餘額更新、預算設定</a:t>
            </a:r>
            <a:r>
              <a:rPr lang="en-US" altLang="zh-HK" sz="1350" dirty="0" err="1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 </a:t>
            </a:r>
            <a:endParaRPr lang="en-US" altLang="zh-HK" sz="1350" dirty="0" err="1">
              <a:solidFill>
                <a:srgbClr val="5E6F69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Noto Sans CJK TC" pitchFamily="34" charset="-120"/>
            </a:endParaRPr>
          </a:p>
        </p:txBody>
      </p:sp>
      <p:sp>
        <p:nvSpPr>
          <p:cNvPr id="26" name="Shape 5"/>
          <p:cNvSpPr/>
          <p:nvPr/>
        </p:nvSpPr>
        <p:spPr>
          <a:xfrm>
            <a:off x="6268085" y="4775200"/>
            <a:ext cx="48133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6"/>
          <p:cNvSpPr/>
          <p:nvPr/>
        </p:nvSpPr>
        <p:spPr>
          <a:xfrm>
            <a:off x="6432677" y="4958206"/>
            <a:ext cx="146304" cy="685800"/>
          </a:xfrm>
          <a:prstGeom prst="roundRect">
            <a:avLst>
              <a:gd name="adj" fmla="val 25000"/>
            </a:avLst>
          </a:prstGeom>
          <a:solidFill>
            <a:srgbClr val="6D9986"/>
          </a:solidFill>
          <a:ln w="12700">
            <a:solidFill>
              <a:srgbClr val="6D9986"/>
            </a:solidFill>
            <a:prstDash val="solid"/>
          </a:ln>
        </p:spPr>
      </p:sp>
      <p:sp>
        <p:nvSpPr>
          <p:cNvPr id="28" name="Text 7"/>
          <p:cNvSpPr/>
          <p:nvPr/>
        </p:nvSpPr>
        <p:spPr>
          <a:xfrm>
            <a:off x="6706997" y="4939918"/>
            <a:ext cx="497433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設定</a:t>
            </a:r>
            <a:r>
              <a:rPr lang="zh-TW" altLang="en-US" sz="1800" b="1" dirty="0">
                <a:solidFill>
                  <a:srgbClr val="20302D"/>
                </a:solidFill>
                <a:latin typeface="微軟正黑體" panose="020B0604030504040204" pitchFamily="34" charset="-120"/>
                <a:ea typeface="新細明體" charset="0"/>
                <a:cs typeface="Noto Sans CJK TC" pitchFamily="34" charset="-120"/>
              </a:rPr>
              <a:t>（</a:t>
            </a:r>
            <a:r>
              <a:rPr lang="en-US" altLang="zh-HK" sz="1800" b="1" dirty="0">
                <a:latin typeface="微軟正黑體" panose="020B0604030504040204" pitchFamily="34" charset="-120"/>
                <a:ea typeface="新細明體" charset="0"/>
              </a:rPr>
              <a:t>Settings</a:t>
            </a:r>
            <a:r>
              <a:rPr lang="zh-TW" altLang="en-US" sz="1800" b="1" dirty="0">
                <a:latin typeface="微軟正黑體" panose="020B0604030504040204" pitchFamily="34" charset="-120"/>
                <a:ea typeface="新細明體" charset="0"/>
              </a:rPr>
              <a:t>）</a:t>
            </a:r>
            <a:endParaRPr lang="zh-TW" altLang="en-US" sz="1800" b="1" dirty="0">
              <a:latin typeface="微軟正黑體" panose="020B0604030504040204" pitchFamily="34" charset="-120"/>
              <a:ea typeface="新細明體" charset="0"/>
            </a:endParaRPr>
          </a:p>
        </p:txBody>
      </p:sp>
      <p:sp>
        <p:nvSpPr>
          <p:cNvPr id="29" name="Text 8"/>
          <p:cNvSpPr/>
          <p:nvPr/>
        </p:nvSpPr>
        <p:spPr>
          <a:xfrm>
            <a:off x="6706997" y="5287390"/>
            <a:ext cx="4992624" cy="3931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zh-HK" altLang="en-US" sz="1350" dirty="0" err="1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登入、登出、同步、帳號綁定</a:t>
            </a:r>
            <a:endParaRPr lang="zh-HK" altLang="en-US" sz="1350" dirty="0" err="1">
              <a:solidFill>
                <a:srgbClr val="5E6F69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Noto Sans CJK TC" pitchFamily="34" charset="-12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40080" y="475488"/>
            <a:ext cx="6126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未來方向</a:t>
            </a:r>
            <a:endParaRPr lang="en-US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932688"/>
            <a:ext cx="10972800" cy="0"/>
          </a:xfrm>
          <a:prstGeom prst="line">
            <a:avLst/>
          </a:prstGeom>
          <a:noFill/>
          <a:ln w="12700">
            <a:solidFill>
              <a:srgbClr val="D8DD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79" y="1298448"/>
            <a:ext cx="7108257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 err="1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先把記帳做輕，再把分析做深</a:t>
            </a:r>
            <a:endParaRPr lang="en-US" sz="1650" dirty="0" err="1">
              <a:solidFill>
                <a:srgbClr val="5E6F69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Noto Sans CJK TC" pitchFamily="34" charset="-12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005840" y="2231136"/>
            <a:ext cx="2880360" cy="3383280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 w="12700">
            <a:solidFill>
              <a:srgbClr val="D8DDD9"/>
            </a:solidFill>
            <a:prstDash val="solid"/>
          </a:ln>
          <a:effectLst>
            <a:outerShdw blurRad="10160" dist="254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280160" y="2478024"/>
            <a:ext cx="2331720" cy="384048"/>
          </a:xfrm>
          <a:prstGeom prst="roundRect">
            <a:avLst>
              <a:gd name="adj" fmla="val 19048"/>
            </a:avLst>
          </a:prstGeom>
          <a:solidFill>
            <a:srgbClr val="DDECE4"/>
          </a:solidFill>
          <a:ln w="12700">
            <a:solidFill>
              <a:srgbClr val="DDEC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0160" y="2578608"/>
            <a:ext cx="233172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76C5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MVP 版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417320" y="3172968"/>
            <a:ext cx="2057400" cy="1417320"/>
          </a:xfrm>
          <a:prstGeom prst="rect">
            <a:avLst/>
          </a:prstGeom>
          <a:noFill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快速記帳</a:t>
            </a:r>
            <a:endParaRPr lang="en-US" sz="17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 algn="ctr">
              <a:buNone/>
            </a:pPr>
            <a:r>
              <a:rPr lang="en-US" sz="1700" b="1" dirty="0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預算管理</a:t>
            </a:r>
            <a:endParaRPr lang="en-US" sz="17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 algn="ctr">
              <a:buNone/>
            </a:pPr>
            <a:r>
              <a:rPr lang="en-US" sz="1700" b="1" dirty="0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本機資料儲存</a:t>
            </a:r>
            <a:endParaRPr lang="en-US" sz="17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325880" y="5065776"/>
            <a:ext cx="2240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20" dirty="0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先建立穩定輸入流程</a:t>
            </a:r>
            <a:endParaRPr lang="en-US" sz="122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663440" y="2231136"/>
            <a:ext cx="2880360" cy="3383280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 w="12700">
            <a:solidFill>
              <a:srgbClr val="D8DDD9"/>
            </a:solidFill>
            <a:prstDash val="solid"/>
          </a:ln>
          <a:effectLst>
            <a:outerShdw blurRad="10160" dist="254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937760" y="2478024"/>
            <a:ext cx="2331720" cy="384048"/>
          </a:xfrm>
          <a:prstGeom prst="roundRect">
            <a:avLst>
              <a:gd name="adj" fmla="val 19048"/>
            </a:avLst>
          </a:prstGeom>
          <a:solidFill>
            <a:srgbClr val="F6DCCB"/>
          </a:solidFill>
          <a:ln w="12700">
            <a:solidFill>
              <a:srgbClr val="F6DCC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2578608"/>
            <a:ext cx="233172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39A7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Beta 版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074920" y="3172968"/>
            <a:ext cx="2057400" cy="1417320"/>
          </a:xfrm>
          <a:prstGeom prst="rect">
            <a:avLst/>
          </a:prstGeom>
          <a:noFill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帳號登入</a:t>
            </a:r>
            <a:endParaRPr lang="en-US" sz="17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 algn="ctr">
              <a:buNone/>
            </a:pPr>
            <a:r>
              <a:rPr lang="en-US" sz="1700" b="1" dirty="0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雲端同步</a:t>
            </a:r>
            <a:endParaRPr lang="en-US" sz="17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 algn="ctr">
              <a:buNone/>
            </a:pPr>
            <a:r>
              <a:rPr lang="en-US" sz="1700" b="1" dirty="0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月報表與分類圖表</a:t>
            </a:r>
            <a:endParaRPr lang="en-US" sz="17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983480" y="5065776"/>
            <a:ext cx="2240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20" dirty="0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補齊同步與報表能力</a:t>
            </a:r>
            <a:endParaRPr lang="en-US" sz="122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8321040" y="2231136"/>
            <a:ext cx="2880360" cy="3383280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 w="12700">
            <a:solidFill>
              <a:srgbClr val="D8DDD9"/>
            </a:solidFill>
            <a:prstDash val="solid"/>
          </a:ln>
          <a:effectLst>
            <a:outerShdw blurRad="10160" dist="254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595360" y="2478024"/>
            <a:ext cx="2331720" cy="384048"/>
          </a:xfrm>
          <a:prstGeom prst="roundRect">
            <a:avLst>
              <a:gd name="adj" fmla="val 19048"/>
            </a:avLst>
          </a:prstGeom>
          <a:solidFill>
            <a:srgbClr val="EFE6D8"/>
          </a:solidFill>
          <a:ln w="12700">
            <a:solidFill>
              <a:srgbClr val="EFE6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95360" y="2578608"/>
            <a:ext cx="233172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Release 版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732520" y="3172968"/>
            <a:ext cx="2057400" cy="1417320"/>
          </a:xfrm>
          <a:prstGeom prst="rect">
            <a:avLst/>
          </a:prstGeom>
          <a:noFill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共享帳本</a:t>
            </a:r>
            <a:endParaRPr lang="en-US" sz="17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 algn="ctr">
              <a:buNone/>
            </a:pPr>
            <a:r>
              <a:rPr lang="en-US" sz="1700" b="1" dirty="0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提醒通知</a:t>
            </a:r>
            <a:endParaRPr lang="en-US" sz="17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 algn="ctr">
              <a:buNone/>
            </a:pPr>
            <a:r>
              <a:rPr lang="en-US" sz="1700" b="1" dirty="0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資料匯出 / </a:t>
            </a:r>
            <a:r>
              <a:rPr lang="zh-TW" altLang="en-US" sz="1700" b="1" dirty="0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桌面</a:t>
            </a:r>
            <a:r>
              <a:rPr lang="en-US" sz="1700" b="1" dirty="0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Widget</a:t>
            </a:r>
            <a:endParaRPr lang="en-US" sz="17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8641080" y="5065776"/>
            <a:ext cx="2240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20" dirty="0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往多人與產品化前進</a:t>
            </a:r>
            <a:endParaRPr lang="en-US" sz="122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2057400" y="6089904"/>
            <a:ext cx="8092440" cy="329184"/>
          </a:xfrm>
          <a:prstGeom prst="roundRect">
            <a:avLst>
              <a:gd name="adj" fmla="val 22222"/>
            </a:avLst>
          </a:prstGeom>
          <a:solidFill>
            <a:srgbClr val="DDECE4"/>
          </a:solidFill>
          <a:ln w="12700">
            <a:solidFill>
              <a:srgbClr val="DDECE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194560" y="6172200"/>
            <a:ext cx="7818120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90" b="1" dirty="0">
                <a:solidFill>
                  <a:srgbClr val="476C5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可進一步加入 OCR </a:t>
            </a:r>
            <a:r>
              <a:rPr lang="en-US" sz="1190" b="1" dirty="0" err="1">
                <a:solidFill>
                  <a:srgbClr val="476C5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發票辨識、自動分類</a:t>
            </a:r>
            <a:r>
              <a:rPr lang="zh-TW" altLang="en-US" sz="1190" b="1" dirty="0">
                <a:solidFill>
                  <a:srgbClr val="476C5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與</a:t>
            </a:r>
            <a:r>
              <a:rPr lang="en-US" sz="1190" b="1" dirty="0" err="1">
                <a:solidFill>
                  <a:srgbClr val="476C5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家庭共享帳本</a:t>
            </a:r>
            <a:endParaRPr lang="en-US" sz="119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3" name="Text 0"/>
          <p:cNvSpPr/>
          <p:nvPr/>
        </p:nvSpPr>
        <p:spPr>
          <a:xfrm>
            <a:off x="640080" y="219456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D998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FUTURE DIRECTION</a:t>
            </a:r>
            <a:endParaRPr lang="en-US" sz="1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640080" y="2306894"/>
            <a:ext cx="6126480" cy="21942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8DDD9"/>
            </a:solidFill>
            <a:prstDash val="solid"/>
          </a:ln>
          <a:effectLst>
            <a:outerShdw blurRad="10160" dist="254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17270" y="2819400"/>
            <a:ext cx="5079365" cy="11690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• </a:t>
            </a:r>
            <a:r>
              <a:rPr lang="zh-HK" altLang="en-US" sz="1600" dirty="0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以</a:t>
            </a:r>
            <a:r>
              <a:rPr lang="en-US" altLang="zh-HK" sz="1600" dirty="0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 SQLite + Firebase </a:t>
            </a:r>
            <a:r>
              <a:rPr lang="zh-HK" altLang="en-US" sz="1600" dirty="0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建立雙資料架構</a:t>
            </a:r>
            <a:endParaRPr lang="zh-HK" altLang="en-US" sz="1600" dirty="0">
              <a:solidFill>
                <a:srgbClr val="20302D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Noto Sans CJK TC" pitchFamily="34" charset="-12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• </a:t>
            </a:r>
            <a:r>
              <a:rPr lang="zh-HK" altLang="en-US" sz="1600" dirty="0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以</a:t>
            </a:r>
            <a:r>
              <a:rPr lang="en-US" altLang="zh-HK" sz="1600" dirty="0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 Repository + Room </a:t>
            </a:r>
            <a:r>
              <a:rPr lang="zh-HK" altLang="en-US" sz="1600" dirty="0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建立穩定資料架構</a:t>
            </a:r>
            <a:endParaRPr lang="zh-HK" altLang="en-US" sz="1600" dirty="0">
              <a:solidFill>
                <a:srgbClr val="20302D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Noto Sans CJK TC" pitchFamily="34" charset="-12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• 以資料</a:t>
            </a:r>
            <a:r>
              <a:rPr lang="zh-TW" altLang="en-US" sz="1600" dirty="0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可視</a:t>
            </a:r>
            <a:r>
              <a:rPr lang="en-US" sz="1600" dirty="0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化把記錄轉成可洞察</a:t>
            </a:r>
            <a:r>
              <a:rPr lang="zh-TW" altLang="en-US" sz="1600" dirty="0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之行動</a:t>
            </a:r>
            <a:endParaRPr lang="zh-TW" altLang="en-US" sz="1600" dirty="0">
              <a:solidFill>
                <a:srgbClr val="20302D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Noto Sans CJK TC" pitchFamily="34" charset="-12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  <a:sym typeface="+mn-ea"/>
              </a:rPr>
              <a:t>• </a:t>
            </a:r>
            <a:r>
              <a:rPr lang="zh-HK" altLang="en-US" sz="1600" dirty="0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完成一套可離線、可同步、可分析的記帳系統</a:t>
            </a:r>
            <a:endParaRPr lang="zh-HK" altLang="en-US" sz="1600" dirty="0">
              <a:solidFill>
                <a:srgbClr val="20302D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Noto Sans CJK TC" pitchFamily="34" charset="-12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7946055" y="2648364"/>
            <a:ext cx="3337560" cy="1153629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8DDD9"/>
            </a:solidFill>
            <a:prstDash val="solid"/>
          </a:ln>
          <a:effectLst>
            <a:outerShdw blurRad="10160" dist="2540" dir="27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" name="Text 5"/>
          <p:cNvSpPr/>
          <p:nvPr/>
        </p:nvSpPr>
        <p:spPr>
          <a:xfrm>
            <a:off x="8066370" y="3031986"/>
            <a:ext cx="333756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2400" b="1" dirty="0">
                <a:solidFill>
                  <a:srgbClr val="476C5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感謝各位的聆聽</a:t>
            </a:r>
            <a:r>
              <a:rPr lang="en-US" altLang="zh-TW" sz="2400" b="1" dirty="0">
                <a:solidFill>
                  <a:srgbClr val="476C5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~</a:t>
            </a:r>
            <a:endParaRPr lang="en-US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" name="Text 0"/>
          <p:cNvSpPr/>
          <p:nvPr/>
        </p:nvSpPr>
        <p:spPr>
          <a:xfrm>
            <a:off x="640080" y="676656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D998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QUICK RECAP</a:t>
            </a:r>
            <a:endParaRPr lang="en-US" sz="1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" name="Text 1"/>
          <p:cNvSpPr/>
          <p:nvPr/>
        </p:nvSpPr>
        <p:spPr>
          <a:xfrm>
            <a:off x="640080" y="932688"/>
            <a:ext cx="6126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2400" b="1" dirty="0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重點回顧</a:t>
            </a:r>
            <a:endParaRPr lang="en-US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" name="Shape 2"/>
          <p:cNvSpPr/>
          <p:nvPr/>
        </p:nvSpPr>
        <p:spPr>
          <a:xfrm>
            <a:off x="640080" y="1389888"/>
            <a:ext cx="10972800" cy="0"/>
          </a:xfrm>
          <a:prstGeom prst="line">
            <a:avLst/>
          </a:prstGeom>
          <a:noFill/>
          <a:ln w="12700">
            <a:solidFill>
              <a:srgbClr val="D8DDD9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T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ans CJK T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2319</Words>
  <Application>WPS 演示</Application>
  <PresentationFormat>寬螢幕</PresentationFormat>
  <Paragraphs>378</Paragraphs>
  <Slides>13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32" baseType="lpstr">
      <vt:lpstr>Arial</vt:lpstr>
      <vt:lpstr>新細明體</vt:lpstr>
      <vt:lpstr>Wingdings</vt:lpstr>
      <vt:lpstr>微軟正黑體</vt:lpstr>
      <vt:lpstr>汉仪中黑KW</vt:lpstr>
      <vt:lpstr>Noto Sans CJK TC</vt:lpstr>
      <vt:lpstr>新細明體</vt:lpstr>
      <vt:lpstr>Microsoft YaHei</vt:lpstr>
      <vt:lpstr>汉仪旗黑</vt:lpstr>
      <vt:lpstr>SimSun</vt:lpstr>
      <vt:lpstr>汉仪书宋二KW</vt:lpstr>
      <vt:lpstr>Arial Unicode MS</vt:lpstr>
      <vt:lpstr>Calibri</vt:lpstr>
      <vt:lpstr>Helvetica Neue</vt:lpstr>
      <vt:lpstr>宋体-繁</vt:lpstr>
      <vt:lpstr>苹方-简</vt:lpstr>
      <vt:lpstr>Noto Sans CJK TC</vt:lpstr>
      <vt:lpstr>微軟正黑體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OpenAI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CocoLog / 摳摳記 App 開發提案</dc:title>
  <dc:creator>OpenAI</dc:creator>
  <dc:subject>CocoLog Android app deck</dc:subject>
  <cp:lastModifiedBy>FLT</cp:lastModifiedBy>
  <cp:revision>191</cp:revision>
  <dcterms:created xsi:type="dcterms:W3CDTF">2026-04-04T09:17:16Z</dcterms:created>
  <dcterms:modified xsi:type="dcterms:W3CDTF">2026-04-04T09:17:16Z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3076-12.1.25205.25205</vt:lpwstr>
  </property>
  <property fmtid="{D5CDD505-2E9C-101B-9397-08002B2CF9AE}" pid="3" name="ICV">
    <vt:lpwstr>62DD3B5413FAF626BFD6D069C21F896F_43</vt:lpwstr>
  </property>
</Properties>
</file>