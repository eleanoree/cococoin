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8" r:id="rId10"/>
    <p:sldId id="267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4"/>
    <a:srgbClr val="F2F0EC"/>
    <a:srgbClr val="E9E8E6"/>
    <a:srgbClr val="E2E2E2"/>
    <a:srgbClr val="F7F3EE"/>
    <a:srgbClr val="4E9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642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Decorative asset: Feather PNG Transparent Image — https://www.pngarts.com/explore/102813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Architecture and implementation flow are proposed additions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Logic flow and synchronization approach are proposed additions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Tooling structure suggestions are proposed additions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Decorative asset: Software Development Team Abstract Concept Vector Illustration — https://pngtree.com/freepng/software-development-team-abstract-concept-vector-illustration_8459410.html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Decorative asset: Smartphone Feature phone Finance Budget Mobile app Website Mockup — https://www.pngegg.com/en/png-dsshz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
- Roadmap content is a proposed extension prepared for this revised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content adapted from uploaded deck 專題架構_v2.pptx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6868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2354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Android App 專題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CocoCoin／摳摳記</a:t>
            </a:r>
            <a:endParaRPr lang="en-US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938528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讓記帳像羽毛一樣輕盈，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把「快速記錄」與「消費洞察」放進同一個</a:t>
            </a:r>
            <a:r>
              <a:rPr lang="en-US" sz="18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App</a:t>
            </a:r>
            <a:endParaRPr lang="en-US" sz="18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3035808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04495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快速記帳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47088" y="3035808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304495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圖表分析</a:t>
            </a:r>
            <a:endParaRPr lang="zh-TW" altLang="en-US" sz="1000" b="1" dirty="0">
              <a:solidFill>
                <a:srgbClr val="476C5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35808" y="3035808"/>
            <a:ext cx="1115568" cy="256032"/>
          </a:xfrm>
          <a:prstGeom prst="roundRect">
            <a:avLst>
              <a:gd name="adj" fmla="val 28571"/>
            </a:avLst>
          </a:prstGeom>
          <a:solidFill>
            <a:srgbClr val="EFE6D8"/>
          </a:solidFill>
          <a:ln w="12700">
            <a:solidFill>
              <a:srgbClr val="EFE6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04495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539496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8DDD9"/>
            </a:solidFill>
            <a:prstDash val="solid"/>
          </a:ln>
          <a:effectLst>
            <a:outerShdw blurRad="1524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5641848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物聯網與行動裝置應用開發（幼獅）第 2 期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組員：田芳玲　｜　指導老師：高秀娟、朱星念、葉呈祥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Image 0" descr="/mnt/data/work/feath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16532"/>
            <a:ext cx="4434840" cy="345917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60920" y="5047487"/>
            <a:ext cx="3794760" cy="1257619"/>
          </a:xfrm>
          <a:prstGeom prst="roundRect">
            <a:avLst>
              <a:gd name="adj" fmla="val 697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DDD9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571232" y="530352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專題目標</a:t>
            </a:r>
            <a:r>
              <a:rPr lang="en-US" sz="1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：降低輸入成本，提升持續記帳意願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571232" y="5893627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優先以</a:t>
            </a:r>
            <a:r>
              <a:rPr 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離線</a:t>
            </a: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方式存取資料</a:t>
            </a:r>
            <a:r>
              <a:rPr 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與可視化</a:t>
            </a: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圖表</a:t>
            </a:r>
            <a:r>
              <a:rPr 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</a:t>
            </a:r>
            <a:r>
              <a:rPr lang="zh-TW" altLang="en-US" sz="11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培養記帳習慣</a:t>
            </a:r>
            <a:endParaRPr lang="zh-TW" altLang="en-US" sz="11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OVERVIEW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大綱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47218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36776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01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55648" y="147218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動機與目的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為什麼需要一個更容易持續使用的記帳工具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532888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679192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43784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02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55648" y="2679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產品定位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55648" y="2962656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功能模組、核心價值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7552" y="388620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05079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03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55648" y="3886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系統架構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55648" y="4169664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Repository 分層、Room / Firebase、首頁試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做ViewModel</a:t>
            </a:r>
            <a:endParaRPr 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4946904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" y="5093208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257800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04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55648" y="50932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核心邏輯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55648" y="5376672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資料流、同步策略與預算計算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55080" y="1325880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19672" y="1472184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1636776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05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87768" y="147218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技術選型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87768" y="1755648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Android 開發工具與實作技術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2532888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19672" y="2679192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2843784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06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87768" y="2679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開發流程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287768" y="2962656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從需求、設計到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實作</a:t>
            </a:r>
            <a:endParaRPr lang="zh-TW" alt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3739896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388620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4050792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07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287768" y="38862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規劃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87768" y="4169664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首頁、快速記帳、報表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頁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面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55080" y="4946904"/>
            <a:ext cx="4983480" cy="932688"/>
          </a:xfrm>
          <a:prstGeom prst="roundRect">
            <a:avLst>
              <a:gd name="adj" fmla="val 784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19672" y="5093208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5257800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08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87768" y="50932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未來方向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287768" y="5376672"/>
            <a:ext cx="3703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產品化與功能擴充路線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WHY THIS APP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動機與目的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71016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記帳不是不</a:t>
            </a: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重要，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而是太難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維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持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此</a:t>
            </a:r>
            <a:r>
              <a:rPr lang="en-US" altLang="zh-TW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app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目的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，是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要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把每一次輸入的負擔降到最低，讓記錄行為自然</a:t>
            </a:r>
            <a:r>
              <a:rPr lang="zh-TW" alt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而然的</a:t>
            </a:r>
            <a:r>
              <a:rPr lang="en-US" sz="1600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發生</a:t>
            </a:r>
            <a:endParaRPr lang="en-US" sz="1600" dirty="0" err="1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248043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663310"/>
            <a:ext cx="146304" cy="86868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645022"/>
            <a:ext cx="28712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極簡記帳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" y="2992494"/>
            <a:ext cx="2889504" cy="5760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目標在 5 步內完成一筆收支紀錄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916038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392" y="4098918"/>
            <a:ext cx="146304" cy="86868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4080630"/>
            <a:ext cx="28712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即時同步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24712" y="4428102"/>
            <a:ext cx="2889504" cy="5760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採用本機優先 + 雲端補同步的方式，跨裝置仍可維持資料一致性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5351646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5534526"/>
            <a:ext cx="146304" cy="640080"/>
          </a:xfrm>
          <a:prstGeom prst="roundRect">
            <a:avLst>
              <a:gd name="adj" fmla="val 25000"/>
            </a:avLst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5516238"/>
            <a:ext cx="28712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統計分析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4712" y="5863710"/>
            <a:ext cx="2889504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將月收支、分類比例與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剩餘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預算轉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換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成易懂的視覺資訊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20640" y="1638935"/>
            <a:ext cx="6492240" cy="4224655"/>
          </a:xfrm>
          <a:prstGeom prst="roundRect">
            <a:avLst>
              <a:gd name="adj" fmla="val 1616"/>
            </a:avLst>
          </a:prstGeom>
          <a:solidFill>
            <a:srgbClr val="DDECE4">
              <a:alpha val="70000"/>
            </a:srgbClr>
          </a:solidFill>
          <a:ln w="12700">
            <a:solidFill>
              <a:srgbClr val="D8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958975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使用者痛點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13832" y="2443607"/>
            <a:ext cx="164592" cy="164592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88152" y="2388743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輸入流程繁瑣，常常記</a:t>
            </a:r>
            <a:r>
              <a:rPr lang="zh-TW" alt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沒幾次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就放棄</a:t>
            </a:r>
            <a:endParaRPr lang="en-US" sz="16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13832" y="3248279"/>
            <a:ext cx="164592" cy="164592"/>
          </a:xfrm>
          <a:prstGeom prst="ellipse">
            <a:avLst/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3193415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分散在紙本、Excel、不同App中</a:t>
            </a:r>
            <a:endParaRPr lang="en-US" sz="16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513832" y="4052951"/>
            <a:ext cx="164592" cy="164592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3998087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記錄完缺少分析，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降低持續使用</a:t>
            </a:r>
            <a:r>
              <a:rPr lang="zh-TW" alt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之</a:t>
            </a:r>
            <a:r>
              <a:rPr lang="en-US" sz="16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誘因</a:t>
            </a:r>
            <a:endParaRPr lang="en-US" sz="16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513705" y="4802505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7898" y="4967351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設計原則：快輸入 + 可離線 + 看得懂</a:t>
            </a:r>
            <a:endParaRPr lang="en-US" sz="1400" b="1" dirty="0">
              <a:solidFill>
                <a:srgbClr val="E39A7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PRODUCT MAP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產品定位與功能地圖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43584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CocoCoin</a:t>
            </a:r>
            <a:r>
              <a:rPr lang="en-US" sz="168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是一個以「個人財務習慣建立」為核心的</a:t>
            </a:r>
            <a:r>
              <a:rPr lang="en-US" sz="168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</a:t>
            </a:r>
            <a:r>
              <a:rPr lang="en-US" sz="168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App</a:t>
            </a:r>
            <a:endParaRPr lang="en-US" sz="168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68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功能設計聚焦在：好記、好查、看得懂、用得久</a:t>
            </a:r>
            <a:endParaRPr lang="en-US" sz="168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872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2701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22518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帳款紀錄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61872" y="25993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可選擇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收入/支出、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日期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、類別、備註與付款錢包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5080" y="20872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2701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2518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預算管理</a:t>
            </a:r>
            <a:endParaRPr lang="zh-TW" altLang="en-US" sz="1800" b="1" dirty="0">
              <a:solidFill>
                <a:srgbClr val="20302D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93992" y="25993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按月設定預算並監看剩餘額度與超支狀況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4588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36417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6234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多錢包管理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61872" y="39709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區分現金、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銀行帳戶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禮券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  <a:sym typeface="+mn-ea"/>
              </a:rPr>
              <a:t>、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  <a:sym typeface="+mn-ea"/>
              </a:rPr>
              <a:t>悠遊卡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等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帳款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來源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34588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9672" y="36417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36234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快速查詢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93992" y="39709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依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月份或特殊區間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搜尋</a:t>
            </a:r>
            <a:r>
              <a:rPr lang="zh-TW" alt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收支</a:t>
            </a: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紀錄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484948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7552" y="50133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49950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數據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可視</a:t>
            </a: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化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61872" y="53425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以月報表、分類占比與趨勢圖整理資訊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4830437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CFBF8"/>
          </a:solidFill>
          <a:ln w="12700">
            <a:solidFill>
              <a:srgbClr val="FCFBF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19672" y="5013317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995029"/>
            <a:ext cx="4379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93992" y="5342501"/>
            <a:ext cx="439826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登入後同步資料，支援跨裝置接續使用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33472" y="6220325"/>
            <a:ext cx="7132320" cy="347472"/>
          </a:xfrm>
          <a:prstGeom prst="roundRect">
            <a:avLst>
              <a:gd name="adj" fmla="val 26316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6311765"/>
            <a:ext cx="68762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 err="1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核心價值：降低記帳阻力，讓使用者願意每天留下可分析的財務資料</a:t>
            </a:r>
            <a:endParaRPr lang="en-US" sz="12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ARCHITECTURE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系統架構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為了讓功能可維護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與擴充，也方便後續優化，目前採用 Repository 分層架構，並在首頁開始導入 ViewModel</a:t>
            </a:r>
            <a:endParaRPr 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97200" y="2496820"/>
            <a:ext cx="2540" cy="705485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97200" y="3494405"/>
            <a:ext cx="2540" cy="91694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97200" y="4904740"/>
            <a:ext cx="2540" cy="73533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77205" y="4200604"/>
            <a:ext cx="1216152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11" name="Shape 9"/>
          <p:cNvSpPr/>
          <p:nvPr/>
        </p:nvSpPr>
        <p:spPr>
          <a:xfrm>
            <a:off x="896112" y="1973722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78992" y="2129170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99032" y="21336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Presentation Layer</a:t>
            </a:r>
            <a:endParaRPr lang="zh-TW" altLang="en-US" sz="1700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99032" y="2405785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主頁</a:t>
            </a:r>
            <a:r>
              <a:rPr lang="en-US" altLang="zh-TW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分析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</a:t>
            </a: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/ </a:t>
            </a:r>
            <a:r>
              <a:rPr lang="zh-TW" alt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設定</a:t>
            </a:r>
            <a:endParaRPr lang="zh-TW" alt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5985" y="3215640"/>
            <a:ext cx="4206240" cy="86296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3371357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8905" y="3366770"/>
            <a:ext cx="3427095" cy="2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ViewModel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99032" y="364416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處理畫面狀態、輸入驗證、預算計算、交易查詢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5985" y="4415155"/>
            <a:ext cx="4206240" cy="87820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8992" y="4570618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9032" y="457599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Repository Layer</a:t>
            </a:r>
            <a:endParaRPr lang="zh-TW" altLang="en-US" sz="1700" b="1" dirty="0">
              <a:solidFill>
                <a:srgbClr val="20302D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98905" y="4840605"/>
            <a:ext cx="3429000" cy="38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統一資料來源，封裝本機資料存取、同步、備份與還原邏輯</a:t>
            </a:r>
            <a:endParaRPr lang="en-US" sz="125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6112" y="5631322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78992" y="5786770"/>
            <a:ext cx="164592" cy="557784"/>
          </a:xfrm>
          <a:prstGeom prst="roundRect">
            <a:avLst>
              <a:gd name="adj" fmla="val 16667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578612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Data Source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99032" y="609639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Room / SQLite（本機）＋Firebase（雲端）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28105" y="2231390"/>
            <a:ext cx="5349240" cy="3314700"/>
          </a:xfrm>
          <a:prstGeom prst="roundRect">
            <a:avLst>
              <a:gd name="adj" fmla="val 1798"/>
            </a:avLst>
          </a:prstGeom>
          <a:solidFill>
            <a:srgbClr val="FFF1E9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63679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設計重點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48399" y="3323487"/>
            <a:ext cx="128016" cy="128016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4431" y="3259479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離線優先：交易先寫入本機，再進行背景同步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48399" y="3981855"/>
            <a:ext cx="128016" cy="128016"/>
          </a:xfrm>
          <a:prstGeom prst="ellipse">
            <a:avLst/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48399" y="4640223"/>
            <a:ext cx="128016" cy="128016"/>
          </a:xfrm>
          <a:prstGeom prst="ellipse">
            <a:avLst/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431" y="3922165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模組化：預算、交易、錢包可獨立維護與測試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34"/>
          <p:cNvSpPr/>
          <p:nvPr/>
        </p:nvSpPr>
        <p:spPr>
          <a:xfrm>
            <a:off x="7004431" y="4656733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單一資料入口：畫面層</a:t>
            </a: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 Repository 存取資料，首頁進一步以 ViewModel 管理 UI 狀態</a:t>
            </a:r>
            <a:endParaRPr lang="en-US" sz="140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核心邏輯與資料流程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9304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以「一筆交易」為例，資料會依序完成驗證、寫入、計算與同步，讓畫面回饋速度與資料一致性兼顧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40864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53712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66560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979408" y="3296412"/>
            <a:ext cx="530352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6112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60704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01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0704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輸入交易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992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填寫金額、類別、日期、錢包與備註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08960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02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73552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表單驗證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91840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檢查必填欄位、格式與數值是否合理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21808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03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0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本機寫入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04688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先寫入 Room / SQLite，立即更新畫面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34656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CFBF8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99248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04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99248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預算計算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17536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重新計算</a:t>
            </a:r>
            <a:r>
              <a:rPr lang="zh-TW" alt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各錢包</a:t>
            </a: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總額、剩餘預算與</a:t>
            </a:r>
            <a:r>
              <a:rPr lang="zh-TW" alt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超支</a:t>
            </a: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狀態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47504" y="2153412"/>
            <a:ext cx="1783080" cy="22402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912096" y="230886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2096" y="2418588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05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12096" y="2857500"/>
            <a:ext cx="14264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6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30384" y="3369564"/>
            <a:ext cx="1389888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背景同步Firebase，供跨裝置存取與備份</a:t>
            </a:r>
            <a:endParaRPr lang="en-US" sz="117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87552" y="4988052"/>
            <a:ext cx="4480560" cy="1274844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152144" y="5170932"/>
            <a:ext cx="146304" cy="50292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26464" y="5152644"/>
            <a:ext cx="38770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重點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一</a:t>
            </a: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：離線優先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426464" y="5559552"/>
            <a:ext cx="3895344" cy="685799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即使沒有網路，使用者仍可新增與查詢資料，待連線恢復後再同步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88152" y="4988052"/>
            <a:ext cx="5349240" cy="1274844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52744" y="5170932"/>
            <a:ext cx="146304" cy="50292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5152644"/>
            <a:ext cx="47457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重點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二</a:t>
            </a: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：同步補償</a:t>
            </a:r>
            <a:endParaRPr 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36208" y="5536692"/>
            <a:ext cx="4764024" cy="685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同步時以帳號與時間戳記比對，避免重複寫入，並保留最新狀態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DATA FLOW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使用者流程圖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6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USER FLOW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 descr="mermaid-diagram-2026-04-04-161658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2575" y="1296035"/>
            <a:ext cx="11626850" cy="4068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27321" y="429363"/>
            <a:ext cx="4040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資料庫設計邏輯</a:t>
            </a:r>
            <a:endParaRPr lang="zh-TW" altLang="en-US" sz="2400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0"/>
          <p:cNvSpPr/>
          <p:nvPr/>
        </p:nvSpPr>
        <p:spPr>
          <a:xfrm>
            <a:off x="746406" y="28050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DATA BASE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627380" y="8945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pic>
        <p:nvPicPr>
          <p:cNvPr id="13" name="圖片 12" descr="accounts_table_editabl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3770" y="936625"/>
            <a:ext cx="4641850" cy="2682240"/>
          </a:xfrm>
          <a:prstGeom prst="rect">
            <a:avLst/>
          </a:prstGeom>
        </p:spPr>
      </p:pic>
      <p:pic>
        <p:nvPicPr>
          <p:cNvPr id="14" name="圖片 13" descr="budgets_table_editabl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3770" y="3754120"/>
            <a:ext cx="4567555" cy="2639060"/>
          </a:xfrm>
          <a:prstGeom prst="rect">
            <a:avLst/>
          </a:prstGeom>
        </p:spPr>
      </p:pic>
      <p:pic>
        <p:nvPicPr>
          <p:cNvPr id="15" name="圖片 14" descr="transactions_table_editabl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5620" y="1002030"/>
            <a:ext cx="5975985" cy="4634865"/>
          </a:xfrm>
          <a:prstGeom prst="rect">
            <a:avLst/>
          </a:prstGeom>
        </p:spPr>
      </p:pic>
      <p:cxnSp>
        <p:nvCxnSpPr>
          <p:cNvPr id="16" name="直接箭頭連接符 15"/>
          <p:cNvCxnSpPr/>
          <p:nvPr/>
        </p:nvCxnSpPr>
        <p:spPr>
          <a:xfrm>
            <a:off x="4959350" y="2006600"/>
            <a:ext cx="1052830" cy="70548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字框 16"/>
          <p:cNvSpPr txBox="1"/>
          <p:nvPr/>
        </p:nvSpPr>
        <p:spPr>
          <a:xfrm>
            <a:off x="3924935" y="2900680"/>
            <a:ext cx="2162175" cy="306705"/>
          </a:xfrm>
          <a:prstGeom prst="rect">
            <a:avLst/>
          </a:prstGeom>
          <a:solidFill>
            <a:srgbClr val="F2F0E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一個帳目可對應多筆交易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接箭頭連接符 17"/>
          <p:cNvCxnSpPr/>
          <p:nvPr/>
        </p:nvCxnSpPr>
        <p:spPr>
          <a:xfrm flipH="1" flipV="1">
            <a:off x="2753360" y="3108960"/>
            <a:ext cx="3258820" cy="972185"/>
          </a:xfrm>
          <a:prstGeom prst="straightConnector1">
            <a:avLst/>
          </a:prstGeom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字框 18"/>
          <p:cNvSpPr txBox="1"/>
          <p:nvPr/>
        </p:nvSpPr>
        <p:spPr>
          <a:xfrm>
            <a:off x="1762760" y="3354070"/>
            <a:ext cx="2162175" cy="521970"/>
          </a:xfrm>
          <a:prstGeom prst="rect">
            <a:avLst/>
          </a:prstGeom>
          <a:solidFill>
            <a:srgbClr val="F2F0E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交易紀錄透過帳戶名稱回寫餘額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1" name="曲線連接符 20"/>
          <p:cNvCxnSpPr/>
          <p:nvPr/>
        </p:nvCxnSpPr>
        <p:spPr>
          <a:xfrm flipV="1">
            <a:off x="5105400" y="4283075"/>
            <a:ext cx="906780" cy="226695"/>
          </a:xfrm>
          <a:prstGeom prst="curvedConnector3">
            <a:avLst>
              <a:gd name="adj1" fmla="val 5007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字框 21"/>
          <p:cNvSpPr txBox="1"/>
          <p:nvPr/>
        </p:nvSpPr>
        <p:spPr>
          <a:xfrm>
            <a:off x="4580890" y="4570730"/>
            <a:ext cx="2162175" cy="737235"/>
          </a:xfrm>
          <a:prstGeom prst="rect">
            <a:avLst/>
          </a:prstGeom>
          <a:solidFill>
            <a:srgbClr val="F2F0E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月統計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依所選月份計算支出並比對預算</a:t>
            </a:r>
            <a:endParaRPr lang="en-US" altLang="zh-TW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2" name="肘形連接符 31"/>
          <p:cNvCxnSpPr/>
          <p:nvPr/>
        </p:nvCxnSpPr>
        <p:spPr>
          <a:xfrm>
            <a:off x="5105400" y="5464810"/>
            <a:ext cx="2738755" cy="928370"/>
          </a:xfrm>
          <a:prstGeom prst="bentConnector3">
            <a:avLst>
              <a:gd name="adj1" fmla="val 50012"/>
            </a:avLst>
          </a:prstGeom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連接符 32"/>
          <p:cNvCxnSpPr/>
          <p:nvPr/>
        </p:nvCxnSpPr>
        <p:spPr>
          <a:xfrm rot="16200000">
            <a:off x="7629525" y="5313680"/>
            <a:ext cx="1299210" cy="840105"/>
          </a:xfrm>
          <a:prstGeom prst="bentConnector3">
            <a:avLst>
              <a:gd name="adj1" fmla="val 49976"/>
            </a:avLst>
          </a:prstGeom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字框 34"/>
          <p:cNvSpPr txBox="1"/>
          <p:nvPr/>
        </p:nvSpPr>
        <p:spPr>
          <a:xfrm>
            <a:off x="8801100" y="5226050"/>
            <a:ext cx="2294255" cy="737235"/>
          </a:xfrm>
          <a:prstGeom prst="rect">
            <a:avLst/>
          </a:prstGeom>
          <a:solidFill>
            <a:srgbClr val="F2F0E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noAutofit/>
          </a:bodyPr>
          <a:p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BUDGETS 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year + month</a:t>
            </a:r>
            <a:r>
              <a:rPr lang="en-US" altLang="zh-TW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為複合主鍵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不直接儲存外鍵關聯</a:t>
            </a:r>
            <a:endParaRPr lang="zh-TW" altLang="en-US" sz="14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TECH STACK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開發工具／技術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80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2300" y="1708906"/>
            <a:ext cx="822960" cy="822960"/>
          </a:xfrm>
          <a:prstGeom prst="ellipse">
            <a:avLst/>
          </a:prstGeom>
          <a:solidFill>
            <a:srgbClr val="7F52FF"/>
          </a:solidFill>
          <a:ln w="12700">
            <a:solidFill>
              <a:srgbClr val="7F5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300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K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3972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Kotlin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972" y="3089650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主力開發語言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16455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9375" y="1708906"/>
            <a:ext cx="822960" cy="82296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9375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1047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Android Studio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81047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開發、除錯、模擬器測試</a:t>
            </a:r>
            <a:endParaRPr lang="en-US" sz="122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3530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6450" y="1708906"/>
            <a:ext cx="822960" cy="822960"/>
          </a:xfrm>
          <a:prstGeom prst="ellipse">
            <a:avLst/>
          </a:prstGeom>
          <a:solidFill>
            <a:srgbClr val="0F6AB4"/>
          </a:solidFill>
          <a:ln w="12700">
            <a:solidFill>
              <a:srgbClr val="0F6A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6450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78122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Room / SQLite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78122" y="3187440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本機主要資料</a:t>
            </a: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來源、支援離線使用</a:t>
            </a:r>
            <a:endParaRPr lang="zh-TW" altLang="en-US" sz="1220" dirty="0">
              <a:solidFill>
                <a:srgbClr val="5E6F69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10605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13525" y="1708906"/>
            <a:ext cx="822960" cy="822960"/>
          </a:xfrm>
          <a:prstGeom prst="ellipse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3525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75197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Firebase Auth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5197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登入</a:t>
            </a: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與身份管理、雲端資料同步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21080" y="5246104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3020" y="5309235"/>
            <a:ext cx="9646920" cy="629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核心重點：技術選型不是堆工具，而是對應實際應用所需</a:t>
            </a:r>
            <a:endParaRPr lang="en-US" sz="1600" b="1" dirty="0">
              <a:solidFill>
                <a:srgbClr val="476C5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5" name="Shape 9"/>
          <p:cNvSpPr/>
          <p:nvPr/>
        </p:nvSpPr>
        <p:spPr>
          <a:xfrm>
            <a:off x="8107680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10"/>
          <p:cNvSpPr/>
          <p:nvPr/>
        </p:nvSpPr>
        <p:spPr>
          <a:xfrm>
            <a:off x="8610600" y="1708906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9" name="Text 11"/>
          <p:cNvSpPr/>
          <p:nvPr/>
        </p:nvSpPr>
        <p:spPr>
          <a:xfrm>
            <a:off x="8610600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</a:t>
            </a:r>
            <a:endParaRPr lang="en-US" sz="2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8272272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HK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Cloud Firestore</a:t>
            </a:r>
            <a:endParaRPr lang="en-US" altLang="zh-HK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8272272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HK" alt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資料備份與跨裝置還原</a:t>
            </a:r>
            <a:endParaRPr lang="zh-HK" altLang="en-US" sz="122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10104755" y="1388866"/>
            <a:ext cx="18288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10"/>
          <p:cNvSpPr/>
          <p:nvPr/>
        </p:nvSpPr>
        <p:spPr>
          <a:xfrm>
            <a:off x="10607675" y="1708906"/>
            <a:ext cx="822960" cy="82296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4" name="Text 11"/>
          <p:cNvSpPr/>
          <p:nvPr/>
        </p:nvSpPr>
        <p:spPr>
          <a:xfrm>
            <a:off x="10607675" y="1964938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  <a:endParaRPr lang="en-US" sz="22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10269347" y="2714746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HK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MPAndroidChart</a:t>
            </a:r>
            <a:endParaRPr lang="en-US" altLang="zh-HK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0269347" y="3180455"/>
            <a:ext cx="1499616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zh-HK" alt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圓餅圖與長條圖視覺化</a:t>
            </a:r>
            <a:endParaRPr lang="zh-HK" altLang="en-US" sz="1220" dirty="0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DELIVERY FLOW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開發流程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39696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653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83080" y="196596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需求分析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99241" y="2281535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定義使用者、功能清單範圍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41832" y="2807208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32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33472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83080" y="266558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資訊架構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99241" y="2949047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規劃資料表、欄位、頁面關係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41832" y="3474720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0098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3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83080" y="3333095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原型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99241" y="3616559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確認首頁、記帳頁、報表頁操作流程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1832" y="4142232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68496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83080" y="400060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功能開發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899241" y="4284071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依模組完成交易、預算、同步功能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1832" y="4809744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5354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360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5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83080" y="466811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測試修正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99241" y="4951583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驗證流程、修復bug、調整體驗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41832" y="5477256"/>
            <a:ext cx="475488" cy="0"/>
          </a:xfrm>
          <a:prstGeom prst="line">
            <a:avLst/>
          </a:prstGeom>
          <a:noFill/>
          <a:ln w="25400">
            <a:solidFill>
              <a:srgbClr val="6D99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202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303520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6</a:t>
            </a: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783080" y="533563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發表</a:t>
            </a:r>
            <a:r>
              <a:rPr lang="zh-TW" altLang="en-US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完善</a:t>
            </a:r>
            <a:endParaRPr lang="zh-TW" altLang="en-US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899241" y="5619095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整理成果、規劃</a:t>
            </a:r>
            <a:r>
              <a:rPr lang="zh-TW" alt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之後</a:t>
            </a: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版</a:t>
            </a:r>
            <a:r>
              <a:rPr lang="zh-TW" alt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</a:t>
            </a:r>
            <a:r>
              <a:rPr lang="en-US" sz="140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06440" y="182880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7" name="Image 0" descr="/mnt/data/work/dev_t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684" y="2029968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CONCEPT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UI / UX 設計邏輯</a:t>
            </a:r>
            <a:endParaRPr lang="en-US" sz="2400" b="1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695"/>
            <a:ext cx="349948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介面重點不是塞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越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多功能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越好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</a:t>
            </a:r>
            <a:endParaRPr 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而是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只留下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常用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且重要</a:t>
            </a: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</a:t>
            </a:r>
            <a:r>
              <a:rPr lang="zh-TW" alt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功能</a:t>
            </a:r>
            <a:endParaRPr lang="zh-TW" alt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3760" y="2654300"/>
            <a:ext cx="4815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8352" y="2837306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12672" y="2819018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主頁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Dashboard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12672" y="3166490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顯示</a:t>
            </a:r>
            <a:r>
              <a:rPr lang="zh-HK" alt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當月收支、預算使用率、最近交易</a:t>
            </a:r>
            <a:endParaRPr lang="zh-HK" altLang="en-US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73760" y="4153535"/>
            <a:ext cx="48133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38352" y="4336541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39A7A"/>
          </a:solidFill>
          <a:ln w="12700">
            <a:solidFill>
              <a:srgbClr val="E39A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2672" y="4318253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記帳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12672" y="4665725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金額、類別、錢包、備註集中於單頁，降低操作切換成本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68085" y="3230245"/>
            <a:ext cx="4831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32677" y="3413251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E8C56A"/>
          </a:solidFill>
          <a:ln w="12700">
            <a:solidFill>
              <a:srgbClr val="E8C5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06997" y="3394963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報表分析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Analytics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）</a:t>
            </a:r>
            <a:endParaRPr lang="zh-TW" altLang="en-US" sz="1800" b="1" dirty="0">
              <a:solidFill>
                <a:srgbClr val="20302D"/>
              </a:solidFill>
              <a:latin typeface="微軟正黑體" panose="020B0604030504040204" pitchFamily="34" charset="-120"/>
              <a:ea typeface="新細明體" charset="0"/>
              <a:cs typeface="Noto Sans CJK TC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706997" y="3742435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分類占比、趨勢圖、區間查詢</a:t>
            </a:r>
            <a:endParaRPr lang="en-US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6268085" y="1685290"/>
            <a:ext cx="4815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6"/>
          <p:cNvSpPr/>
          <p:nvPr/>
        </p:nvSpPr>
        <p:spPr>
          <a:xfrm>
            <a:off x="6432677" y="1868296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4E96CA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4" name="Text 7"/>
          <p:cNvSpPr/>
          <p:nvPr/>
        </p:nvSpPr>
        <p:spPr>
          <a:xfrm>
            <a:off x="6706997" y="1850008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資產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新細明體" charset="0"/>
              </a:rPr>
              <a:t>Assets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706997" y="2197480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zh-HK" alt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帳戶管理、餘額更新、預算設定</a:t>
            </a:r>
            <a:r>
              <a:rPr lang="en-US" altLang="zh-HK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endParaRPr lang="en-US" altLang="zh-HK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6268085" y="4775200"/>
            <a:ext cx="48133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6"/>
          <p:cNvSpPr/>
          <p:nvPr/>
        </p:nvSpPr>
        <p:spPr>
          <a:xfrm>
            <a:off x="6432677" y="4958206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6D9986"/>
          </a:solidFill>
          <a:ln w="12700">
            <a:solidFill>
              <a:srgbClr val="6D9986"/>
            </a:solidFill>
            <a:prstDash val="solid"/>
          </a:ln>
        </p:spPr>
      </p:sp>
      <p:sp>
        <p:nvSpPr>
          <p:cNvPr id="28" name="Text 7"/>
          <p:cNvSpPr/>
          <p:nvPr/>
        </p:nvSpPr>
        <p:spPr>
          <a:xfrm>
            <a:off x="6706997" y="4939918"/>
            <a:ext cx="49743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設定</a:t>
            </a:r>
            <a:r>
              <a:rPr lang="zh-TW" altLang="en-US" sz="1800" b="1" dirty="0">
                <a:solidFill>
                  <a:srgbClr val="20302D"/>
                </a:solidFill>
                <a:latin typeface="微軟正黑體" panose="020B0604030504040204" pitchFamily="34" charset="-120"/>
                <a:ea typeface="新細明體" charset="0"/>
                <a:cs typeface="Noto Sans CJK TC" pitchFamily="34" charset="-120"/>
              </a:rPr>
              <a:t>（</a:t>
            </a:r>
            <a:r>
              <a:rPr lang="en-US" altLang="zh-HK" sz="1800" b="1" dirty="0">
                <a:latin typeface="微軟正黑體" panose="020B0604030504040204" pitchFamily="34" charset="-120"/>
                <a:ea typeface="新細明體" charset="0"/>
              </a:rPr>
              <a:t>Settings</a:t>
            </a:r>
            <a:r>
              <a:rPr lang="zh-TW" altLang="en-US" sz="1800" b="1" dirty="0">
                <a:latin typeface="微軟正黑體" panose="020B0604030504040204" pitchFamily="34" charset="-120"/>
                <a:ea typeface="新細明體" charset="0"/>
              </a:rPr>
              <a:t>）</a:t>
            </a:r>
            <a:endParaRPr lang="zh-TW" altLang="en-US" sz="1800" b="1" dirty="0">
              <a:latin typeface="微軟正黑體" panose="020B0604030504040204" pitchFamily="34" charset="-120"/>
              <a:ea typeface="新細明體" charset="0"/>
            </a:endParaRPr>
          </a:p>
        </p:txBody>
      </p:sp>
      <p:sp>
        <p:nvSpPr>
          <p:cNvPr id="29" name="Text 8"/>
          <p:cNvSpPr/>
          <p:nvPr/>
        </p:nvSpPr>
        <p:spPr>
          <a:xfrm>
            <a:off x="6706997" y="5287390"/>
            <a:ext cx="4992624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zh-HK" altLang="en-US" sz="13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登入、登出、同步、帳號綁定</a:t>
            </a:r>
            <a:endParaRPr lang="zh-HK" altLang="en-US" sz="13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75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未來方向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79" y="1298448"/>
            <a:ext cx="7108257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 err="1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先把記帳做輕，再把分析做深</a:t>
            </a:r>
            <a:endParaRPr lang="en-US" sz="1650" dirty="0" err="1">
              <a:solidFill>
                <a:srgbClr val="5E6F6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247802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578608"/>
            <a:ext cx="23317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MVP 版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3172968"/>
            <a:ext cx="205740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快速記帳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預算管理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本機資料儲存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506577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先建立穩定輸入流程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2231136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247802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6DCCB"/>
          </a:solidFill>
          <a:ln w="12700">
            <a:solidFill>
              <a:srgbClr val="F6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78608"/>
            <a:ext cx="23317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9A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Beta 版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0" y="3172968"/>
            <a:ext cx="205740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帳號登入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雲端同步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月報表與分類圖表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83480" y="506577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補齊同步與報表能力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21040" y="2231136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0" y="2478024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FE6D8"/>
          </a:solidFill>
          <a:ln w="12700">
            <a:solidFill>
              <a:srgbClr val="EFE6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578608"/>
            <a:ext cx="23317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Release 版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32520" y="3172968"/>
            <a:ext cx="205740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共享帳本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提醒通知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資料匯出 / </a:t>
            </a:r>
            <a:r>
              <a:rPr lang="zh-TW" alt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桌面</a:t>
            </a:r>
            <a:r>
              <a:rPr lang="en-US" sz="17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Widget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41080" y="506577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5E6F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往多人與產品化前進</a:t>
            </a:r>
            <a:endParaRPr lang="en-US" sz="12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57400" y="6089904"/>
            <a:ext cx="8092440" cy="329184"/>
          </a:xfrm>
          <a:prstGeom prst="roundRect">
            <a:avLst>
              <a:gd name="adj" fmla="val 22222"/>
            </a:avLst>
          </a:prstGeom>
          <a:solidFill>
            <a:srgbClr val="DDECE4"/>
          </a:solidFill>
          <a:ln w="12700">
            <a:solidFill>
              <a:srgbClr val="DDE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6172200"/>
            <a:ext cx="7818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可進一步加入 OCR </a:t>
            </a:r>
            <a:r>
              <a:rPr lang="en-US" sz="1190" b="1" dirty="0" err="1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發票辨識、自動分類</a:t>
            </a:r>
            <a:r>
              <a:rPr lang="zh-TW" altLang="en-US" sz="119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</a:t>
            </a:r>
            <a:r>
              <a:rPr lang="en-US" sz="1190" b="1" dirty="0" err="1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家庭共享帳本</a:t>
            </a:r>
            <a:endParaRPr lang="en-US" sz="119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0"/>
          <p:cNvSpPr/>
          <p:nvPr/>
        </p:nvSpPr>
        <p:spPr>
          <a:xfrm>
            <a:off x="640080" y="2194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FUTURE DIRECTION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2306894"/>
            <a:ext cx="6126480" cy="2194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7270" y="2819400"/>
            <a:ext cx="5079365" cy="1169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</a:t>
            </a:r>
            <a:r>
              <a:rPr lang="en-US" altLang="zh-HK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SQLite + Firebase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建立雙資料架構</a:t>
            </a:r>
            <a:endParaRPr lang="zh-HK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以</a:t>
            </a:r>
            <a:r>
              <a:rPr lang="en-US" altLang="zh-HK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Repository + Room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建立穩定資料架構</a:t>
            </a:r>
            <a:endParaRPr lang="zh-HK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• 以資料</a:t>
            </a:r>
            <a:r>
              <a:rPr lang="zh-TW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可視</a:t>
            </a: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化把記錄轉成可洞察</a:t>
            </a:r>
            <a:r>
              <a:rPr lang="zh-TW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之行動</a:t>
            </a:r>
            <a:endParaRPr lang="zh-TW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  <a:sym typeface="+mn-ea"/>
              </a:rPr>
              <a:t>• </a:t>
            </a:r>
            <a:r>
              <a:rPr lang="zh-HK" altLang="en-US" sz="1600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完成一套可離線、可同步、可分析的記帳系統</a:t>
            </a:r>
            <a:endParaRPr lang="zh-HK" altLang="en-US" sz="1600" dirty="0">
              <a:solidFill>
                <a:srgbClr val="20302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46055" y="2648364"/>
            <a:ext cx="3337560" cy="1153629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DD9"/>
            </a:solidFill>
            <a:prstDash val="solid"/>
          </a:ln>
          <a:effectLst>
            <a:outerShdw blurRad="10160" dist="254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66370" y="3031986"/>
            <a:ext cx="3337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感謝各位的聆聽</a:t>
            </a:r>
            <a:r>
              <a:rPr lang="en-US" altLang="zh-TW" sz="2400" b="1" dirty="0">
                <a:solidFill>
                  <a:srgbClr val="476C5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~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0"/>
          <p:cNvSpPr/>
          <p:nvPr/>
        </p:nvSpPr>
        <p:spPr>
          <a:xfrm>
            <a:off x="640080" y="67665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99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QUICK RECAP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9326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20302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重點回顧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40080" y="1389888"/>
            <a:ext cx="10972800" cy="0"/>
          </a:xfrm>
          <a:prstGeom prst="line">
            <a:avLst/>
          </a:prstGeom>
          <a:noFill/>
          <a:ln w="12700">
            <a:solidFill>
              <a:srgbClr val="D8DDD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2319</Words>
  <Application>WPS 演示</Application>
  <PresentationFormat>寬螢幕</PresentationFormat>
  <Paragraphs>378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新細明體</vt:lpstr>
      <vt:lpstr>Wingdings</vt:lpstr>
      <vt:lpstr>微軟正黑體</vt:lpstr>
      <vt:lpstr>汉仪中黑KW</vt:lpstr>
      <vt:lpstr>Noto Sans CJK TC</vt:lpstr>
      <vt:lpstr>新細明體</vt:lpstr>
      <vt:lpstr>Microsoft YaHei</vt:lpstr>
      <vt:lpstr>汉仪旗黑</vt:lpstr>
      <vt:lpstr>SimSun</vt:lpstr>
      <vt:lpstr>汉仪书宋二KW</vt:lpstr>
      <vt:lpstr>Arial Unicode MS</vt:lpstr>
      <vt:lpstr>Calibri</vt:lpstr>
      <vt:lpstr>Helvetica Neue</vt:lpstr>
      <vt:lpstr>宋体-繁</vt:lpstr>
      <vt:lpstr>苹方-简</vt:lpstr>
      <vt:lpstr>Noto Sans CJK TC</vt:lpstr>
      <vt:lpstr>微軟正黑體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CocoLog / 摳摳記 App 開發提案</dc:title>
  <dc:creator>OpenAI</dc:creator>
  <dc:subject>CocoLog Android app deck</dc:subject>
  <cp:lastModifiedBy>FLT</cp:lastModifiedBy>
  <cp:revision>190</cp:revision>
  <dcterms:created xsi:type="dcterms:W3CDTF">2026-04-04T09:17:39Z</dcterms:created>
  <dcterms:modified xsi:type="dcterms:W3CDTF">2026-04-04T09:17:39Z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3076-12.1.25205.25205</vt:lpwstr>
  </property>
  <property fmtid="{D5CDD505-2E9C-101B-9397-08002B2CF9AE}" pid="3" name="ICV">
    <vt:lpwstr>B14A116AEB81454597BDD06920EF7B91_43</vt:lpwstr>
  </property>
</Properties>
</file>